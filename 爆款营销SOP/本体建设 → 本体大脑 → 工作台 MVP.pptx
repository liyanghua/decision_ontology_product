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media/image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7" r:id="rId5"/>
    <p:sldId id="257" r:id="rId6"/>
    <p:sldId id="266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12192000"/>
  <p:embeddedFontLst>
    <p:embeddedFont>
      <p:font typeface="MiSans" pitchFamily="34" charset="-122"/>
      <p:regular r:id="rId18"/>
    </p:embeddedFont>
    <p:embeddedFont>
      <p:font typeface="MiSans" pitchFamily="34" charset="-12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quarespace-cdn.com/03784568b14b7ea11b9c96c392fc9675933fe3f1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85000"/>
                </a:srgbClr>
              </a:gs>
              <a:gs pos="100000">
                <a:srgbClr val="FAFAFA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620217"/>
            <a:ext cx="3467100" cy="342900"/>
          </a:xfrm>
          <a:custGeom>
            <a:avLst/>
            <a:gdLst/>
            <a:ahLst/>
            <a:cxnLst/>
            <a:rect l="l" t="t" r="r" b="b"/>
            <a:pathLst>
              <a:path w="3467100" h="342900">
                <a:moveTo>
                  <a:pt x="0" y="0"/>
                </a:moveTo>
                <a:lnTo>
                  <a:pt x="3467100" y="0"/>
                </a:lnTo>
                <a:lnTo>
                  <a:pt x="34671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</p:spPr>
      </p:sp>
      <p:sp>
        <p:nvSpPr>
          <p:cNvPr id="5" name="Text 2"/>
          <p:cNvSpPr/>
          <p:nvPr/>
        </p:nvSpPr>
        <p:spPr>
          <a:xfrm>
            <a:off x="381000" y="1620217"/>
            <a:ext cx="3533775" cy="3429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ENTERPRISE INTELLIGENCE 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72717"/>
            <a:ext cx="7677150" cy="167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6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本体建设 → 本体大脑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6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→ 工作台 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77717"/>
            <a:ext cx="914400" cy="28575"/>
          </a:xfrm>
          <a:custGeom>
            <a:avLst/>
            <a:gdLst/>
            <a:ahLst/>
            <a:cxnLst/>
            <a:rect l="l" t="t" r="r" b="b"/>
            <a:pathLst>
              <a:path w="914400" h="28575">
                <a:moveTo>
                  <a:pt x="0" y="0"/>
                </a:moveTo>
                <a:lnTo>
                  <a:pt x="914400" y="0"/>
                </a:lnTo>
                <a:lnTo>
                  <a:pt x="9144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8" name="Text 5"/>
          <p:cNvSpPr/>
          <p:nvPr/>
        </p:nvSpPr>
        <p:spPr>
          <a:xfrm>
            <a:off x="381000" y="4811092"/>
            <a:ext cx="6858000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从经营知识整理，到决策编译，再到人机协同落地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quarespace-cdn.com/03784568b14b7ea11b9c96c392fc9675933fe3f1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810895"/>
            <a:ext cx="12192000" cy="6047105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85000"/>
                </a:srgbClr>
              </a:gs>
              <a:gs pos="100000">
                <a:srgbClr val="FAFAFA">
                  <a:alpha val="70000"/>
                </a:srgbClr>
              </a:gs>
            </a:gsLst>
            <a:lin ang="2700000" scaled="1"/>
          </a:gradFill>
        </p:spPr>
        <p:txBody>
          <a:bodyPr/>
          <a:p>
            <a:pPr>
              <a:lnSpc>
                <a:spcPct val="100000"/>
              </a:lnSpc>
            </a:pPr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81000" y="1620217"/>
            <a:ext cx="3533775" cy="342900"/>
          </a:xfrm>
          <a:prstGeom prst="rect">
            <a:avLst/>
          </a:prstGeom>
          <a:noFill/>
        </p:spPr>
        <p:txBody>
          <a:bodyPr wrap="square" lIns="190500" tIns="76200" rIns="1905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ENTERPRISE INTELLIGENCE 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72717"/>
            <a:ext cx="7677150" cy="167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6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10" name="图片 9" descr="电商本体大脑+新AIP(对标Palantir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5" y="980440"/>
            <a:ext cx="9523730" cy="56146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74625" y="165735"/>
            <a:ext cx="5276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智能体平台</a:t>
            </a:r>
            <a:endParaRPr lang="zh-CN" altLang="en-US" sz="3600" b="1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11525321" cy="182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kern="0" spc="201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WHY WE DO THIS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57546"/>
            <a:ext cx="11717106" cy="639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为什么要做这件事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870" y="1593636"/>
            <a:ext cx="5580009" cy="4913330"/>
          </a:xfrm>
          <a:custGeom>
            <a:avLst/>
            <a:gdLst/>
            <a:ahLst/>
            <a:cxnLst/>
            <a:rect l="l" t="t" r="r" b="b"/>
            <a:pathLst>
              <a:path w="5580009" h="4913330">
                <a:moveTo>
                  <a:pt x="146122" y="0"/>
                </a:moveTo>
                <a:lnTo>
                  <a:pt x="5433887" y="0"/>
                </a:lnTo>
                <a:cubicBezTo>
                  <a:pt x="5514588" y="0"/>
                  <a:pt x="5580009" y="65421"/>
                  <a:pt x="5580009" y="146122"/>
                </a:cubicBezTo>
                <a:lnTo>
                  <a:pt x="5580009" y="4767208"/>
                </a:lnTo>
                <a:cubicBezTo>
                  <a:pt x="5580009" y="4847909"/>
                  <a:pt x="5514588" y="4913330"/>
                  <a:pt x="5433887" y="4913330"/>
                </a:cubicBezTo>
                <a:lnTo>
                  <a:pt x="146122" y="4913330"/>
                </a:lnTo>
                <a:cubicBezTo>
                  <a:pt x="65421" y="4913330"/>
                  <a:pt x="0" y="4847909"/>
                  <a:pt x="0" y="4767208"/>
                </a:cubicBezTo>
                <a:lnTo>
                  <a:pt x="0" y="146122"/>
                </a:lnTo>
                <a:cubicBezTo>
                  <a:pt x="0" y="65475"/>
                  <a:pt x="65475" y="0"/>
                  <a:pt x="14612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39" y="1963506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109593" y="0"/>
                </a:moveTo>
                <a:lnTo>
                  <a:pt x="401832" y="0"/>
                </a:lnTo>
                <a:cubicBezTo>
                  <a:pt x="462358" y="0"/>
                  <a:pt x="511425" y="49067"/>
                  <a:pt x="511425" y="109593"/>
                </a:cubicBezTo>
                <a:lnTo>
                  <a:pt x="511425" y="401832"/>
                </a:lnTo>
                <a:cubicBezTo>
                  <a:pt x="511425" y="462358"/>
                  <a:pt x="462358" y="511425"/>
                  <a:pt x="401832" y="511425"/>
                </a:cubicBezTo>
                <a:lnTo>
                  <a:pt x="109593" y="511425"/>
                </a:lnTo>
                <a:cubicBezTo>
                  <a:pt x="49067" y="511425"/>
                  <a:pt x="0" y="462358"/>
                  <a:pt x="0" y="401832"/>
                </a:cubicBezTo>
                <a:lnTo>
                  <a:pt x="0" y="109593"/>
                </a:lnTo>
                <a:cubicBezTo>
                  <a:pt x="0" y="49067"/>
                  <a:pt x="49067" y="0"/>
                  <a:pt x="109593" y="0"/>
                </a:cubicBezTo>
                <a:close/>
              </a:path>
            </a:pathLst>
          </a:custGeom>
          <a:solidFill>
            <a:srgbClr val="1D1D1D"/>
          </a:solidFill>
        </p:spPr>
      </p:sp>
      <p:sp>
        <p:nvSpPr>
          <p:cNvPr id="6" name="Shape 4"/>
          <p:cNvSpPr/>
          <p:nvPr/>
        </p:nvSpPr>
        <p:spPr>
          <a:xfrm>
            <a:off x="885861" y="2109627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cubicBezTo>
                  <a:pt x="115884" y="0"/>
                  <a:pt x="121663" y="3468"/>
                  <a:pt x="124660" y="8990"/>
                </a:cubicBezTo>
                <a:lnTo>
                  <a:pt x="217127" y="180226"/>
                </a:lnTo>
                <a:cubicBezTo>
                  <a:pt x="219995" y="185534"/>
                  <a:pt x="219867" y="191956"/>
                  <a:pt x="216785" y="197135"/>
                </a:cubicBezTo>
                <a:cubicBezTo>
                  <a:pt x="213702" y="202315"/>
                  <a:pt x="208094" y="205483"/>
                  <a:pt x="202058" y="205483"/>
                </a:cubicBezTo>
                <a:lnTo>
                  <a:pt x="17124" y="205483"/>
                </a:lnTo>
                <a:cubicBezTo>
                  <a:pt x="11088" y="205483"/>
                  <a:pt x="5522" y="202315"/>
                  <a:pt x="2397" y="197135"/>
                </a:cubicBezTo>
                <a:cubicBezTo>
                  <a:pt x="-728" y="191956"/>
                  <a:pt x="-813" y="185534"/>
                  <a:pt x="2055" y="180226"/>
                </a:cubicBezTo>
                <a:lnTo>
                  <a:pt x="94522" y="8990"/>
                </a:lnTo>
                <a:cubicBezTo>
                  <a:pt x="97519" y="3468"/>
                  <a:pt x="103298" y="0"/>
                  <a:pt x="109591" y="0"/>
                </a:cubicBezTo>
                <a:close/>
                <a:moveTo>
                  <a:pt x="109591" y="71919"/>
                </a:moveTo>
                <a:cubicBezTo>
                  <a:pt x="103897" y="71919"/>
                  <a:pt x="99317" y="76500"/>
                  <a:pt x="99317" y="82193"/>
                </a:cubicBezTo>
                <a:lnTo>
                  <a:pt x="99317" y="130139"/>
                </a:lnTo>
                <a:cubicBezTo>
                  <a:pt x="99317" y="135833"/>
                  <a:pt x="103897" y="140413"/>
                  <a:pt x="109591" y="140413"/>
                </a:cubicBezTo>
                <a:cubicBezTo>
                  <a:pt x="115285" y="140413"/>
                  <a:pt x="119865" y="135833"/>
                  <a:pt x="119865" y="130139"/>
                </a:cubicBezTo>
                <a:lnTo>
                  <a:pt x="119865" y="82193"/>
                </a:lnTo>
                <a:cubicBezTo>
                  <a:pt x="119865" y="76500"/>
                  <a:pt x="115285" y="71919"/>
                  <a:pt x="109591" y="71919"/>
                </a:cubicBezTo>
                <a:close/>
                <a:moveTo>
                  <a:pt x="121021" y="164387"/>
                </a:moveTo>
                <a:cubicBezTo>
                  <a:pt x="121281" y="160144"/>
                  <a:pt x="119165" y="156107"/>
                  <a:pt x="115528" y="153907"/>
                </a:cubicBezTo>
                <a:cubicBezTo>
                  <a:pt x="111891" y="151707"/>
                  <a:pt x="107334" y="151707"/>
                  <a:pt x="103697" y="153907"/>
                </a:cubicBezTo>
                <a:cubicBezTo>
                  <a:pt x="100060" y="156107"/>
                  <a:pt x="97944" y="160144"/>
                  <a:pt x="98204" y="164387"/>
                </a:cubicBezTo>
                <a:cubicBezTo>
                  <a:pt x="97944" y="168629"/>
                  <a:pt x="100060" y="172666"/>
                  <a:pt x="103697" y="174866"/>
                </a:cubicBezTo>
                <a:cubicBezTo>
                  <a:pt x="107334" y="177066"/>
                  <a:pt x="111891" y="177066"/>
                  <a:pt x="115528" y="174866"/>
                </a:cubicBezTo>
                <a:cubicBezTo>
                  <a:pt x="119165" y="172666"/>
                  <a:pt x="121281" y="168629"/>
                  <a:pt x="121021" y="164387"/>
                </a:cubicBezTo>
                <a:close/>
              </a:path>
            </a:pathLst>
          </a:custGeom>
          <a:solidFill>
            <a:srgbClr val="FAFAFA"/>
          </a:solidFill>
        </p:spPr>
      </p:sp>
      <p:sp>
        <p:nvSpPr>
          <p:cNvPr id="7" name="Text 5"/>
          <p:cNvSpPr/>
          <p:nvPr/>
        </p:nvSpPr>
        <p:spPr>
          <a:xfrm>
            <a:off x="1397285" y="2000036"/>
            <a:ext cx="1315092" cy="438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3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现状问题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9739" y="2767173"/>
            <a:ext cx="4922463" cy="2557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企业今天的经营能力，往往分散在：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9739" y="3169007"/>
            <a:ext cx="1022849" cy="365303"/>
          </a:xfrm>
          <a:custGeom>
            <a:avLst/>
            <a:gdLst/>
            <a:ahLst/>
            <a:cxnLst/>
            <a:rect l="l" t="t" r="r" b="b"/>
            <a:pathLst>
              <a:path w="1022849" h="365303">
                <a:moveTo>
                  <a:pt x="73061" y="0"/>
                </a:moveTo>
                <a:lnTo>
                  <a:pt x="949789" y="0"/>
                </a:lnTo>
                <a:cubicBezTo>
                  <a:pt x="990112" y="0"/>
                  <a:pt x="1022849" y="32737"/>
                  <a:pt x="1022849" y="73061"/>
                </a:cubicBezTo>
                <a:lnTo>
                  <a:pt x="1022849" y="292243"/>
                </a:lnTo>
                <a:cubicBezTo>
                  <a:pt x="1022849" y="332566"/>
                  <a:pt x="990112" y="365303"/>
                  <a:pt x="949789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0" name="Text 8"/>
          <p:cNvSpPr/>
          <p:nvPr/>
        </p:nvSpPr>
        <p:spPr>
          <a:xfrm>
            <a:off x="739739" y="3169007"/>
            <a:ext cx="1095910" cy="365303"/>
          </a:xfrm>
          <a:prstGeom prst="rect">
            <a:avLst/>
          </a:prstGeom>
          <a:noFill/>
        </p:spPr>
        <p:txBody>
          <a:bodyPr wrap="square" lIns="146121" tIns="73061" rIns="146121" bIns="73061" rtlCol="0" anchor="ctr"/>
          <a:lstStyle/>
          <a:p>
            <a:pPr>
              <a:lnSpc>
                <a:spcPct val="13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数据系统里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72180" y="3169007"/>
            <a:ext cx="1251164" cy="365303"/>
          </a:xfrm>
          <a:custGeom>
            <a:avLst/>
            <a:gdLst/>
            <a:ahLst/>
            <a:cxnLst/>
            <a:rect l="l" t="t" r="r" b="b"/>
            <a:pathLst>
              <a:path w="1251164" h="365303">
                <a:moveTo>
                  <a:pt x="73061" y="0"/>
                </a:moveTo>
                <a:lnTo>
                  <a:pt x="1178103" y="0"/>
                </a:lnTo>
                <a:cubicBezTo>
                  <a:pt x="1218427" y="0"/>
                  <a:pt x="1251164" y="32737"/>
                  <a:pt x="1251164" y="73061"/>
                </a:cubicBezTo>
                <a:lnTo>
                  <a:pt x="1251164" y="292243"/>
                </a:lnTo>
                <a:cubicBezTo>
                  <a:pt x="1251164" y="332566"/>
                  <a:pt x="1218427" y="365303"/>
                  <a:pt x="1178103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2" name="Text 10"/>
          <p:cNvSpPr/>
          <p:nvPr/>
        </p:nvSpPr>
        <p:spPr>
          <a:xfrm>
            <a:off x="1872180" y="3169007"/>
            <a:ext cx="1324225" cy="365303"/>
          </a:xfrm>
          <a:prstGeom prst="rect">
            <a:avLst/>
          </a:prstGeom>
          <a:noFill/>
        </p:spPr>
        <p:txBody>
          <a:bodyPr wrap="square" lIns="146121" tIns="73061" rIns="146121" bIns="73061" rtlCol="0" anchor="ctr"/>
          <a:lstStyle/>
          <a:p>
            <a:pPr>
              <a:lnSpc>
                <a:spcPct val="13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文档和 SOP 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35361" y="3169007"/>
            <a:ext cx="1022849" cy="365303"/>
          </a:xfrm>
          <a:custGeom>
            <a:avLst/>
            <a:gdLst/>
            <a:ahLst/>
            <a:cxnLst/>
            <a:rect l="l" t="t" r="r" b="b"/>
            <a:pathLst>
              <a:path w="1022849" h="365303">
                <a:moveTo>
                  <a:pt x="73061" y="0"/>
                </a:moveTo>
                <a:lnTo>
                  <a:pt x="949789" y="0"/>
                </a:lnTo>
                <a:cubicBezTo>
                  <a:pt x="990112" y="0"/>
                  <a:pt x="1022849" y="32737"/>
                  <a:pt x="1022849" y="73061"/>
                </a:cubicBezTo>
                <a:lnTo>
                  <a:pt x="1022849" y="292243"/>
                </a:lnTo>
                <a:cubicBezTo>
                  <a:pt x="1022849" y="332566"/>
                  <a:pt x="990112" y="365303"/>
                  <a:pt x="949789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4" name="Text 12"/>
          <p:cNvSpPr/>
          <p:nvPr/>
        </p:nvSpPr>
        <p:spPr>
          <a:xfrm>
            <a:off x="3235361" y="3169007"/>
            <a:ext cx="1095910" cy="365303"/>
          </a:xfrm>
          <a:prstGeom prst="rect">
            <a:avLst/>
          </a:prstGeom>
          <a:noFill/>
        </p:spPr>
        <p:txBody>
          <a:bodyPr wrap="square" lIns="146121" tIns="73061" rIns="146121" bIns="73061" rtlCol="0" anchor="ctr"/>
          <a:lstStyle/>
          <a:p>
            <a:pPr>
              <a:lnSpc>
                <a:spcPct val="13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专家经验里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67801" y="3169007"/>
            <a:ext cx="1022849" cy="365303"/>
          </a:xfrm>
          <a:custGeom>
            <a:avLst/>
            <a:gdLst/>
            <a:ahLst/>
            <a:cxnLst/>
            <a:rect l="l" t="t" r="r" b="b"/>
            <a:pathLst>
              <a:path w="1022849" h="365303">
                <a:moveTo>
                  <a:pt x="73061" y="0"/>
                </a:moveTo>
                <a:lnTo>
                  <a:pt x="949789" y="0"/>
                </a:lnTo>
                <a:cubicBezTo>
                  <a:pt x="990112" y="0"/>
                  <a:pt x="1022849" y="32737"/>
                  <a:pt x="1022849" y="73061"/>
                </a:cubicBezTo>
                <a:lnTo>
                  <a:pt x="1022849" y="292243"/>
                </a:lnTo>
                <a:cubicBezTo>
                  <a:pt x="1022849" y="332566"/>
                  <a:pt x="990112" y="365303"/>
                  <a:pt x="949789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6" name="Text 14"/>
          <p:cNvSpPr/>
          <p:nvPr/>
        </p:nvSpPr>
        <p:spPr>
          <a:xfrm>
            <a:off x="4367801" y="3169007"/>
            <a:ext cx="1095910" cy="365303"/>
          </a:xfrm>
          <a:prstGeom prst="rect">
            <a:avLst/>
          </a:prstGeom>
          <a:noFill/>
        </p:spPr>
        <p:txBody>
          <a:bodyPr wrap="square" lIns="146121" tIns="73061" rIns="146121" bIns="73061" rtlCol="0" anchor="ctr"/>
          <a:lstStyle/>
          <a:p>
            <a:pPr>
              <a:lnSpc>
                <a:spcPct val="13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人工操作里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9739" y="3643901"/>
            <a:ext cx="1022849" cy="365303"/>
          </a:xfrm>
          <a:custGeom>
            <a:avLst/>
            <a:gdLst/>
            <a:ahLst/>
            <a:cxnLst/>
            <a:rect l="l" t="t" r="r" b="b"/>
            <a:pathLst>
              <a:path w="1022849" h="365303">
                <a:moveTo>
                  <a:pt x="73061" y="0"/>
                </a:moveTo>
                <a:lnTo>
                  <a:pt x="949789" y="0"/>
                </a:lnTo>
                <a:cubicBezTo>
                  <a:pt x="990112" y="0"/>
                  <a:pt x="1022849" y="32737"/>
                  <a:pt x="1022849" y="73061"/>
                </a:cubicBezTo>
                <a:lnTo>
                  <a:pt x="1022849" y="292243"/>
                </a:lnTo>
                <a:cubicBezTo>
                  <a:pt x="1022849" y="332566"/>
                  <a:pt x="990112" y="365303"/>
                  <a:pt x="949789" y="365303"/>
                </a:cubicBezTo>
                <a:lnTo>
                  <a:pt x="73061" y="365303"/>
                </a:lnTo>
                <a:cubicBezTo>
                  <a:pt x="32737" y="365303"/>
                  <a:pt x="0" y="332566"/>
                  <a:pt x="0" y="292243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8" name="Text 16"/>
          <p:cNvSpPr/>
          <p:nvPr/>
        </p:nvSpPr>
        <p:spPr>
          <a:xfrm>
            <a:off x="739739" y="3643901"/>
            <a:ext cx="1095910" cy="365303"/>
          </a:xfrm>
          <a:prstGeom prst="rect">
            <a:avLst/>
          </a:prstGeom>
          <a:noFill/>
        </p:spPr>
        <p:txBody>
          <a:bodyPr wrap="square" lIns="146121" tIns="73061" rIns="146121" bIns="73061" rtlCol="0" anchor="ctr"/>
          <a:lstStyle/>
          <a:p>
            <a:pPr>
              <a:lnSpc>
                <a:spcPct val="13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复盘会议里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9739" y="4232953"/>
            <a:ext cx="4840270" cy="9133"/>
          </a:xfrm>
          <a:custGeom>
            <a:avLst/>
            <a:gdLst/>
            <a:ahLst/>
            <a:cxnLst/>
            <a:rect l="l" t="t" r="r" b="b"/>
            <a:pathLst>
              <a:path w="4840270" h="9133">
                <a:moveTo>
                  <a:pt x="0" y="0"/>
                </a:moveTo>
                <a:lnTo>
                  <a:pt x="4840270" y="0"/>
                </a:lnTo>
                <a:lnTo>
                  <a:pt x="4840270" y="9133"/>
                </a:lnTo>
                <a:lnTo>
                  <a:pt x="0" y="9133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20" name="Text 18"/>
          <p:cNvSpPr/>
          <p:nvPr/>
        </p:nvSpPr>
        <p:spPr>
          <a:xfrm>
            <a:off x="739739" y="4456701"/>
            <a:ext cx="4922463" cy="2557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结果就是：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9739" y="4949861"/>
            <a:ext cx="73061" cy="73061"/>
          </a:xfrm>
          <a:custGeom>
            <a:avLst/>
            <a:gdLst/>
            <a:ahLst/>
            <a:cxnLst/>
            <a:rect l="l" t="t" r="r" b="b"/>
            <a:pathLst>
              <a:path w="73061" h="73061">
                <a:moveTo>
                  <a:pt x="36530" y="0"/>
                </a:moveTo>
                <a:lnTo>
                  <a:pt x="36530" y="0"/>
                </a:lnTo>
                <a:cubicBezTo>
                  <a:pt x="56692" y="0"/>
                  <a:pt x="73061" y="16369"/>
                  <a:pt x="73061" y="36530"/>
                </a:cubicBezTo>
                <a:lnTo>
                  <a:pt x="73061" y="36530"/>
                </a:lnTo>
                <a:cubicBezTo>
                  <a:pt x="73061" y="56692"/>
                  <a:pt x="56692" y="73061"/>
                  <a:pt x="36530" y="73061"/>
                </a:cubicBezTo>
                <a:lnTo>
                  <a:pt x="36530" y="73061"/>
                </a:lnTo>
                <a:cubicBezTo>
                  <a:pt x="16369" y="73061"/>
                  <a:pt x="0" y="56692"/>
                  <a:pt x="0" y="36530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2" name="Text 20"/>
          <p:cNvSpPr/>
          <p:nvPr/>
        </p:nvSpPr>
        <p:spPr>
          <a:xfrm>
            <a:off x="922391" y="4858535"/>
            <a:ext cx="1534274" cy="23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讨论问题时语言不统一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9739" y="5296899"/>
            <a:ext cx="73061" cy="73061"/>
          </a:xfrm>
          <a:custGeom>
            <a:avLst/>
            <a:gdLst/>
            <a:ahLst/>
            <a:cxnLst/>
            <a:rect l="l" t="t" r="r" b="b"/>
            <a:pathLst>
              <a:path w="73061" h="73061">
                <a:moveTo>
                  <a:pt x="36530" y="0"/>
                </a:moveTo>
                <a:lnTo>
                  <a:pt x="36530" y="0"/>
                </a:lnTo>
                <a:cubicBezTo>
                  <a:pt x="56692" y="0"/>
                  <a:pt x="73061" y="16369"/>
                  <a:pt x="73061" y="36530"/>
                </a:cubicBezTo>
                <a:lnTo>
                  <a:pt x="73061" y="36530"/>
                </a:lnTo>
                <a:cubicBezTo>
                  <a:pt x="73061" y="56692"/>
                  <a:pt x="56692" y="73061"/>
                  <a:pt x="36530" y="73061"/>
                </a:cubicBezTo>
                <a:lnTo>
                  <a:pt x="36530" y="73061"/>
                </a:lnTo>
                <a:cubicBezTo>
                  <a:pt x="16369" y="73061"/>
                  <a:pt x="0" y="56692"/>
                  <a:pt x="0" y="36530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4" name="Text 22"/>
          <p:cNvSpPr/>
          <p:nvPr/>
        </p:nvSpPr>
        <p:spPr>
          <a:xfrm>
            <a:off x="922391" y="5205573"/>
            <a:ext cx="1826517" cy="23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看得到数据，但拿不到方案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9739" y="5643937"/>
            <a:ext cx="73061" cy="73061"/>
          </a:xfrm>
          <a:custGeom>
            <a:avLst/>
            <a:gdLst/>
            <a:ahLst/>
            <a:cxnLst/>
            <a:rect l="l" t="t" r="r" b="b"/>
            <a:pathLst>
              <a:path w="73061" h="73061">
                <a:moveTo>
                  <a:pt x="36530" y="0"/>
                </a:moveTo>
                <a:lnTo>
                  <a:pt x="36530" y="0"/>
                </a:lnTo>
                <a:cubicBezTo>
                  <a:pt x="56692" y="0"/>
                  <a:pt x="73061" y="16369"/>
                  <a:pt x="73061" y="36530"/>
                </a:cubicBezTo>
                <a:lnTo>
                  <a:pt x="73061" y="36530"/>
                </a:lnTo>
                <a:cubicBezTo>
                  <a:pt x="73061" y="56692"/>
                  <a:pt x="56692" y="73061"/>
                  <a:pt x="36530" y="73061"/>
                </a:cubicBezTo>
                <a:lnTo>
                  <a:pt x="36530" y="73061"/>
                </a:lnTo>
                <a:cubicBezTo>
                  <a:pt x="16369" y="73061"/>
                  <a:pt x="0" y="56692"/>
                  <a:pt x="0" y="36530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6" name="Text 24"/>
          <p:cNvSpPr/>
          <p:nvPr/>
        </p:nvSpPr>
        <p:spPr>
          <a:xfrm>
            <a:off x="922391" y="5552611"/>
            <a:ext cx="1388153" cy="23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能做一次，难以复制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9739" y="5990975"/>
            <a:ext cx="73061" cy="73061"/>
          </a:xfrm>
          <a:custGeom>
            <a:avLst/>
            <a:gdLst/>
            <a:ahLst/>
            <a:cxnLst/>
            <a:rect l="l" t="t" r="r" b="b"/>
            <a:pathLst>
              <a:path w="73061" h="73061">
                <a:moveTo>
                  <a:pt x="36530" y="0"/>
                </a:moveTo>
                <a:lnTo>
                  <a:pt x="36530" y="0"/>
                </a:lnTo>
                <a:cubicBezTo>
                  <a:pt x="56692" y="0"/>
                  <a:pt x="73061" y="16369"/>
                  <a:pt x="73061" y="36530"/>
                </a:cubicBezTo>
                <a:lnTo>
                  <a:pt x="73061" y="36530"/>
                </a:lnTo>
                <a:cubicBezTo>
                  <a:pt x="73061" y="56692"/>
                  <a:pt x="56692" y="73061"/>
                  <a:pt x="36530" y="73061"/>
                </a:cubicBezTo>
                <a:lnTo>
                  <a:pt x="36530" y="73061"/>
                </a:lnTo>
                <a:cubicBezTo>
                  <a:pt x="16369" y="73061"/>
                  <a:pt x="0" y="56692"/>
                  <a:pt x="0" y="36530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8" name="Text 26"/>
          <p:cNvSpPr/>
          <p:nvPr/>
        </p:nvSpPr>
        <p:spPr>
          <a:xfrm>
            <a:off x="922391" y="5899649"/>
            <a:ext cx="2264881" cy="2374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系统很多，但没有真正的经营中枢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42621" y="1589070"/>
            <a:ext cx="5589142" cy="4922463"/>
          </a:xfrm>
          <a:custGeom>
            <a:avLst/>
            <a:gdLst/>
            <a:ahLst/>
            <a:cxnLst/>
            <a:rect l="l" t="t" r="r" b="b"/>
            <a:pathLst>
              <a:path w="5589142" h="4922463">
                <a:moveTo>
                  <a:pt x="146099" y="0"/>
                </a:moveTo>
                <a:lnTo>
                  <a:pt x="5443043" y="0"/>
                </a:lnTo>
                <a:cubicBezTo>
                  <a:pt x="5523731" y="0"/>
                  <a:pt x="5589142" y="65411"/>
                  <a:pt x="5589142" y="146099"/>
                </a:cubicBezTo>
                <a:lnTo>
                  <a:pt x="5589142" y="4776364"/>
                </a:lnTo>
                <a:cubicBezTo>
                  <a:pt x="5589142" y="4857052"/>
                  <a:pt x="5523731" y="4922463"/>
                  <a:pt x="5443043" y="4922463"/>
                </a:cubicBezTo>
                <a:lnTo>
                  <a:pt x="146099" y="4922463"/>
                </a:lnTo>
                <a:cubicBezTo>
                  <a:pt x="65411" y="4922463"/>
                  <a:pt x="0" y="4857052"/>
                  <a:pt x="0" y="4776364"/>
                </a:cubicBezTo>
                <a:lnTo>
                  <a:pt x="0" y="146099"/>
                </a:lnTo>
                <a:cubicBezTo>
                  <a:pt x="0" y="65411"/>
                  <a:pt x="65411" y="0"/>
                  <a:pt x="146099" y="0"/>
                </a:cubicBezTo>
                <a:close/>
              </a:path>
            </a:pathLst>
          </a:custGeom>
          <a:solidFill>
            <a:srgbClr val="1D1D1D"/>
          </a:solidFill>
        </p:spPr>
      </p:sp>
      <p:sp>
        <p:nvSpPr>
          <p:cNvPr id="30" name="Shape 28"/>
          <p:cNvSpPr/>
          <p:nvPr/>
        </p:nvSpPr>
        <p:spPr>
          <a:xfrm>
            <a:off x="6607924" y="1954373"/>
            <a:ext cx="511425" cy="511425"/>
          </a:xfrm>
          <a:custGeom>
            <a:avLst/>
            <a:gdLst/>
            <a:ahLst/>
            <a:cxnLst/>
            <a:rect l="l" t="t" r="r" b="b"/>
            <a:pathLst>
              <a:path w="511425" h="511425">
                <a:moveTo>
                  <a:pt x="109593" y="0"/>
                </a:moveTo>
                <a:lnTo>
                  <a:pt x="401832" y="0"/>
                </a:lnTo>
                <a:cubicBezTo>
                  <a:pt x="462358" y="0"/>
                  <a:pt x="511425" y="49067"/>
                  <a:pt x="511425" y="109593"/>
                </a:cubicBezTo>
                <a:lnTo>
                  <a:pt x="511425" y="401832"/>
                </a:lnTo>
                <a:cubicBezTo>
                  <a:pt x="511425" y="462358"/>
                  <a:pt x="462358" y="511425"/>
                  <a:pt x="401832" y="511425"/>
                </a:cubicBezTo>
                <a:lnTo>
                  <a:pt x="109593" y="511425"/>
                </a:lnTo>
                <a:cubicBezTo>
                  <a:pt x="49067" y="511425"/>
                  <a:pt x="0" y="462358"/>
                  <a:pt x="0" y="401832"/>
                </a:cubicBezTo>
                <a:lnTo>
                  <a:pt x="0" y="109593"/>
                </a:lnTo>
                <a:cubicBezTo>
                  <a:pt x="0" y="49067"/>
                  <a:pt x="49067" y="0"/>
                  <a:pt x="109593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1" name="Shape 29"/>
          <p:cNvSpPr/>
          <p:nvPr/>
        </p:nvSpPr>
        <p:spPr>
          <a:xfrm>
            <a:off x="6754046" y="2100494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91784" y="109591"/>
                </a:moveTo>
                <a:cubicBezTo>
                  <a:pt x="191784" y="64227"/>
                  <a:pt x="154955" y="27398"/>
                  <a:pt x="109591" y="27398"/>
                </a:cubicBezTo>
                <a:cubicBezTo>
                  <a:pt x="64227" y="27398"/>
                  <a:pt x="27398" y="64227"/>
                  <a:pt x="27398" y="109591"/>
                </a:cubicBezTo>
                <a:cubicBezTo>
                  <a:pt x="27398" y="154955"/>
                  <a:pt x="64227" y="191784"/>
                  <a:pt x="109591" y="191784"/>
                </a:cubicBezTo>
                <a:cubicBezTo>
                  <a:pt x="154955" y="191784"/>
                  <a:pt x="191784" y="154955"/>
                  <a:pt x="191784" y="109591"/>
                </a:cubicBezTo>
                <a:close/>
                <a:moveTo>
                  <a:pt x="0" y="109591"/>
                </a:moveTo>
                <a:cubicBezTo>
                  <a:pt x="0" y="49106"/>
                  <a:pt x="49106" y="0"/>
                  <a:pt x="109591" y="0"/>
                </a:cubicBezTo>
                <a:cubicBezTo>
                  <a:pt x="170076" y="0"/>
                  <a:pt x="219182" y="49106"/>
                  <a:pt x="219182" y="109591"/>
                </a:cubicBezTo>
                <a:cubicBezTo>
                  <a:pt x="219182" y="170076"/>
                  <a:pt x="170076" y="219182"/>
                  <a:pt x="109591" y="219182"/>
                </a:cubicBezTo>
                <a:cubicBezTo>
                  <a:pt x="49106" y="219182"/>
                  <a:pt x="0" y="170076"/>
                  <a:pt x="0" y="109591"/>
                </a:cubicBezTo>
                <a:close/>
                <a:moveTo>
                  <a:pt x="109591" y="143838"/>
                </a:moveTo>
                <a:cubicBezTo>
                  <a:pt x="128493" y="143838"/>
                  <a:pt x="143838" y="128493"/>
                  <a:pt x="143838" y="109591"/>
                </a:cubicBezTo>
                <a:cubicBezTo>
                  <a:pt x="143838" y="90689"/>
                  <a:pt x="128493" y="75344"/>
                  <a:pt x="109591" y="75344"/>
                </a:cubicBezTo>
                <a:cubicBezTo>
                  <a:pt x="90689" y="75344"/>
                  <a:pt x="75344" y="90689"/>
                  <a:pt x="75344" y="109591"/>
                </a:cubicBezTo>
                <a:cubicBezTo>
                  <a:pt x="75344" y="128493"/>
                  <a:pt x="90689" y="143838"/>
                  <a:pt x="109591" y="143838"/>
                </a:cubicBezTo>
                <a:close/>
                <a:moveTo>
                  <a:pt x="109591" y="47946"/>
                </a:moveTo>
                <a:cubicBezTo>
                  <a:pt x="143614" y="47946"/>
                  <a:pt x="171236" y="75568"/>
                  <a:pt x="171236" y="109591"/>
                </a:cubicBezTo>
                <a:cubicBezTo>
                  <a:pt x="171236" y="143614"/>
                  <a:pt x="143614" y="171236"/>
                  <a:pt x="109591" y="171236"/>
                </a:cubicBezTo>
                <a:cubicBezTo>
                  <a:pt x="75568" y="171236"/>
                  <a:pt x="47946" y="143614"/>
                  <a:pt x="47946" y="109591"/>
                </a:cubicBezTo>
                <a:cubicBezTo>
                  <a:pt x="47946" y="75568"/>
                  <a:pt x="75568" y="47946"/>
                  <a:pt x="109591" y="47946"/>
                </a:cubicBezTo>
                <a:close/>
                <a:moveTo>
                  <a:pt x="95892" y="109591"/>
                </a:moveTo>
                <a:cubicBezTo>
                  <a:pt x="95892" y="102030"/>
                  <a:pt x="102030" y="95892"/>
                  <a:pt x="109591" y="95892"/>
                </a:cubicBezTo>
                <a:cubicBezTo>
                  <a:pt x="117152" y="95892"/>
                  <a:pt x="123290" y="102030"/>
                  <a:pt x="123290" y="109591"/>
                </a:cubicBezTo>
                <a:cubicBezTo>
                  <a:pt x="123290" y="117152"/>
                  <a:pt x="117152" y="123290"/>
                  <a:pt x="109591" y="123290"/>
                </a:cubicBezTo>
                <a:cubicBezTo>
                  <a:pt x="102030" y="123290"/>
                  <a:pt x="95892" y="117152"/>
                  <a:pt x="95892" y="109591"/>
                </a:cubicBezTo>
                <a:close/>
              </a:path>
            </a:pathLst>
          </a:custGeom>
          <a:solidFill>
            <a:srgbClr val="FAFAFA"/>
          </a:solidFill>
        </p:spPr>
      </p:sp>
      <p:sp>
        <p:nvSpPr>
          <p:cNvPr id="32" name="Text 30"/>
          <p:cNvSpPr/>
          <p:nvPr/>
        </p:nvSpPr>
        <p:spPr>
          <a:xfrm>
            <a:off x="7265470" y="1990903"/>
            <a:ext cx="1315092" cy="438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30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07924" y="2859498"/>
            <a:ext cx="4977258" cy="11415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70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把企业从 </a:t>
            </a:r>
            <a:r>
              <a:rPr lang="en-US" sz="187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"经验驱动、系统割裂、人工推进"</a:t>
            </a:r>
            <a:r>
              <a:rPr lang="en-US" sz="1870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的经营方式，升级为 </a:t>
            </a:r>
            <a:r>
              <a:rPr lang="en-US" sz="187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"语义统一、决策可编译、执行可闭环"</a:t>
            </a:r>
            <a:r>
              <a:rPr lang="en-US" sz="1870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的新型经营系统。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07924" y="4291316"/>
            <a:ext cx="1525142" cy="1753456"/>
          </a:xfrm>
          <a:custGeom>
            <a:avLst/>
            <a:gdLst/>
            <a:ahLst/>
            <a:cxnLst/>
            <a:rect l="l" t="t" r="r" b="b"/>
            <a:pathLst>
              <a:path w="1525142" h="1753456">
                <a:moveTo>
                  <a:pt x="109597" y="0"/>
                </a:moveTo>
                <a:lnTo>
                  <a:pt x="1415545" y="0"/>
                </a:lnTo>
                <a:cubicBezTo>
                  <a:pt x="1476033" y="0"/>
                  <a:pt x="1525142" y="49109"/>
                  <a:pt x="1525142" y="109597"/>
                </a:cubicBezTo>
                <a:lnTo>
                  <a:pt x="1525142" y="1643860"/>
                </a:lnTo>
                <a:cubicBezTo>
                  <a:pt x="1525142" y="1704388"/>
                  <a:pt x="1476073" y="1753456"/>
                  <a:pt x="1415545" y="1753456"/>
                </a:cubicBezTo>
                <a:lnTo>
                  <a:pt x="109597" y="1753456"/>
                </a:lnTo>
                <a:cubicBezTo>
                  <a:pt x="49068" y="1753456"/>
                  <a:pt x="0" y="1704388"/>
                  <a:pt x="0" y="1643860"/>
                </a:cubicBezTo>
                <a:lnTo>
                  <a:pt x="0" y="109597"/>
                </a:lnTo>
                <a:cubicBezTo>
                  <a:pt x="0" y="49068"/>
                  <a:pt x="49068" y="0"/>
                  <a:pt x="109597" y="0"/>
                </a:cubicBezTo>
                <a:close/>
              </a:path>
            </a:pathLst>
          </a:custGeom>
          <a:solidFill>
            <a:srgbClr val="FAFAFA">
              <a:alpha val="1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699250" y="4473967"/>
            <a:ext cx="1342490" cy="1095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7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语义统一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54046" y="5642938"/>
            <a:ext cx="1232899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统一经营语言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74763" y="4291316"/>
            <a:ext cx="1525142" cy="1753456"/>
          </a:xfrm>
          <a:custGeom>
            <a:avLst/>
            <a:gdLst/>
            <a:ahLst/>
            <a:cxnLst/>
            <a:rect l="l" t="t" r="r" b="b"/>
            <a:pathLst>
              <a:path w="1525142" h="1753456">
                <a:moveTo>
                  <a:pt x="109597" y="0"/>
                </a:moveTo>
                <a:lnTo>
                  <a:pt x="1415545" y="0"/>
                </a:lnTo>
                <a:cubicBezTo>
                  <a:pt x="1476033" y="0"/>
                  <a:pt x="1525142" y="49109"/>
                  <a:pt x="1525142" y="109597"/>
                </a:cubicBezTo>
                <a:lnTo>
                  <a:pt x="1525142" y="1643860"/>
                </a:lnTo>
                <a:cubicBezTo>
                  <a:pt x="1525142" y="1704388"/>
                  <a:pt x="1476073" y="1753456"/>
                  <a:pt x="1415545" y="1753456"/>
                </a:cubicBezTo>
                <a:lnTo>
                  <a:pt x="109597" y="1753456"/>
                </a:lnTo>
                <a:cubicBezTo>
                  <a:pt x="49068" y="1753456"/>
                  <a:pt x="0" y="1704388"/>
                  <a:pt x="0" y="1643860"/>
                </a:cubicBezTo>
                <a:lnTo>
                  <a:pt x="0" y="109597"/>
                </a:lnTo>
                <a:cubicBezTo>
                  <a:pt x="0" y="49068"/>
                  <a:pt x="49068" y="0"/>
                  <a:pt x="109597" y="0"/>
                </a:cubicBezTo>
                <a:close/>
              </a:path>
            </a:pathLst>
          </a:custGeom>
          <a:solidFill>
            <a:srgbClr val="FAFAFA">
              <a:alpha val="1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8366089" y="4473967"/>
            <a:ext cx="1342490" cy="1095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7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决策可编译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20885" y="5642938"/>
            <a:ext cx="1232899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智能决策中枢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941603" y="4291316"/>
            <a:ext cx="1525142" cy="1753456"/>
          </a:xfrm>
          <a:custGeom>
            <a:avLst/>
            <a:gdLst/>
            <a:ahLst/>
            <a:cxnLst/>
            <a:rect l="l" t="t" r="r" b="b"/>
            <a:pathLst>
              <a:path w="1525142" h="1753456">
                <a:moveTo>
                  <a:pt x="109597" y="0"/>
                </a:moveTo>
                <a:lnTo>
                  <a:pt x="1415545" y="0"/>
                </a:lnTo>
                <a:cubicBezTo>
                  <a:pt x="1476033" y="0"/>
                  <a:pt x="1525142" y="49109"/>
                  <a:pt x="1525142" y="109597"/>
                </a:cubicBezTo>
                <a:lnTo>
                  <a:pt x="1525142" y="1643860"/>
                </a:lnTo>
                <a:cubicBezTo>
                  <a:pt x="1525142" y="1704388"/>
                  <a:pt x="1476073" y="1753456"/>
                  <a:pt x="1415545" y="1753456"/>
                </a:cubicBezTo>
                <a:lnTo>
                  <a:pt x="109597" y="1753456"/>
                </a:lnTo>
                <a:cubicBezTo>
                  <a:pt x="49068" y="1753456"/>
                  <a:pt x="0" y="1704388"/>
                  <a:pt x="0" y="1643860"/>
                </a:cubicBezTo>
                <a:lnTo>
                  <a:pt x="0" y="109597"/>
                </a:lnTo>
                <a:cubicBezTo>
                  <a:pt x="0" y="49068"/>
                  <a:pt x="49068" y="0"/>
                  <a:pt x="109597" y="0"/>
                </a:cubicBezTo>
                <a:close/>
              </a:path>
            </a:pathLst>
          </a:custGeom>
          <a:solidFill>
            <a:srgbClr val="FAFAFA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10032929" y="4473967"/>
            <a:ext cx="1342490" cy="1095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7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执行可闭环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87724" y="5642938"/>
            <a:ext cx="1232899" cy="219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持续优化进化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77461" y="377461"/>
            <a:ext cx="11663554" cy="679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000" b="1" kern="0" spc="-89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为什么是现在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77461" y="1170130"/>
            <a:ext cx="603938" cy="28310"/>
          </a:xfrm>
          <a:custGeom>
            <a:avLst/>
            <a:gdLst/>
            <a:ahLst/>
            <a:cxnLst/>
            <a:rect l="l" t="t" r="r" b="b"/>
            <a:pathLst>
              <a:path w="603938" h="28310">
                <a:moveTo>
                  <a:pt x="0" y="0"/>
                </a:moveTo>
                <a:lnTo>
                  <a:pt x="603938" y="0"/>
                </a:lnTo>
                <a:lnTo>
                  <a:pt x="603938" y="28310"/>
                </a:lnTo>
                <a:lnTo>
                  <a:pt x="0" y="2831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4" name="Shape 2"/>
          <p:cNvSpPr/>
          <p:nvPr/>
        </p:nvSpPr>
        <p:spPr>
          <a:xfrm>
            <a:off x="377461" y="1500409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188731" y="0"/>
                </a:moveTo>
                <a:lnTo>
                  <a:pt x="188731" y="0"/>
                </a:lnTo>
                <a:cubicBezTo>
                  <a:pt x="292894" y="0"/>
                  <a:pt x="377461" y="84567"/>
                  <a:pt x="377461" y="188731"/>
                </a:cubicBezTo>
                <a:lnTo>
                  <a:pt x="377461" y="188731"/>
                </a:lnTo>
                <a:cubicBezTo>
                  <a:pt x="377461" y="292894"/>
                  <a:pt x="292894" y="377461"/>
                  <a:pt x="188731" y="377461"/>
                </a:cubicBezTo>
                <a:lnTo>
                  <a:pt x="188731" y="377461"/>
                </a:lnTo>
                <a:cubicBezTo>
                  <a:pt x="84567" y="377461"/>
                  <a:pt x="0" y="292894"/>
                  <a:pt x="0" y="188731"/>
                </a:cubicBezTo>
                <a:lnTo>
                  <a:pt x="0" y="188731"/>
                </a:lnTo>
                <a:cubicBezTo>
                  <a:pt x="0" y="84567"/>
                  <a:pt x="84567" y="0"/>
                  <a:pt x="188731" y="0"/>
                </a:cubicBezTo>
                <a:close/>
              </a:path>
            </a:pathLst>
          </a:custGeom>
          <a:solidFill>
            <a:srgbClr val="E5E5E5"/>
          </a:solidFill>
        </p:spPr>
      </p:sp>
      <p:sp>
        <p:nvSpPr>
          <p:cNvPr id="5" name="Text 3"/>
          <p:cNvSpPr/>
          <p:nvPr/>
        </p:nvSpPr>
        <p:spPr>
          <a:xfrm>
            <a:off x="396334" y="1557028"/>
            <a:ext cx="424644" cy="2642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过去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161" y="1590056"/>
            <a:ext cx="405771" cy="198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kern="0" spc="26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7461" y="2599765"/>
            <a:ext cx="4888124" cy="9437"/>
          </a:xfrm>
          <a:custGeom>
            <a:avLst/>
            <a:gdLst/>
            <a:ahLst/>
            <a:cxnLst/>
            <a:rect l="l" t="t" r="r" b="b"/>
            <a:pathLst>
              <a:path w="4888124" h="9437">
                <a:moveTo>
                  <a:pt x="0" y="0"/>
                </a:moveTo>
                <a:lnTo>
                  <a:pt x="4888124" y="0"/>
                </a:lnTo>
                <a:lnTo>
                  <a:pt x="4888124" y="9437"/>
                </a:lnTo>
                <a:lnTo>
                  <a:pt x="0" y="9437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8" name="Shape 6"/>
          <p:cNvSpPr/>
          <p:nvPr/>
        </p:nvSpPr>
        <p:spPr>
          <a:xfrm>
            <a:off x="377461" y="2236458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0"/>
                </a:moveTo>
                <a:lnTo>
                  <a:pt x="113238" y="0"/>
                </a:lnTo>
                <a:cubicBezTo>
                  <a:pt x="175736" y="0"/>
                  <a:pt x="226477" y="50740"/>
                  <a:pt x="226477" y="113238"/>
                </a:cubicBezTo>
                <a:lnTo>
                  <a:pt x="226477" y="113238"/>
                </a:lnTo>
                <a:cubicBezTo>
                  <a:pt x="226477" y="175736"/>
                  <a:pt x="175736" y="226477"/>
                  <a:pt x="113238" y="226477"/>
                </a:cubicBezTo>
                <a:lnTo>
                  <a:pt x="113238" y="226477"/>
                </a:lnTo>
                <a:cubicBezTo>
                  <a:pt x="50740" y="226477"/>
                  <a:pt x="0" y="175736"/>
                  <a:pt x="0" y="11323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9" name="Shape 7"/>
          <p:cNvSpPr/>
          <p:nvPr/>
        </p:nvSpPr>
        <p:spPr>
          <a:xfrm>
            <a:off x="419926" y="2293077"/>
            <a:ext cx="141548" cy="113238"/>
          </a:xfrm>
          <a:custGeom>
            <a:avLst/>
            <a:gdLst/>
            <a:ahLst/>
            <a:cxnLst/>
            <a:rect l="l" t="t" r="r" b="b"/>
            <a:pathLst>
              <a:path w="141548" h="113238"/>
            </a:pathLst>
          </a:custGeom>
          <a:solidFill>
            <a:srgbClr val="86868B"/>
          </a:solidFill>
        </p:spPr>
      </p:sp>
      <p:sp>
        <p:nvSpPr>
          <p:cNvPr id="10" name="Text 8"/>
          <p:cNvSpPr/>
          <p:nvPr/>
        </p:nvSpPr>
        <p:spPr>
          <a:xfrm>
            <a:off x="755015" y="2217420"/>
            <a:ext cx="3039110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能建模</a:t>
            </a:r>
            <a:r>
              <a:rPr lang="en-US" sz="20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20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不能理解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7461" y="3247347"/>
            <a:ext cx="4888124" cy="9437"/>
          </a:xfrm>
          <a:custGeom>
            <a:avLst/>
            <a:gdLst/>
            <a:ahLst/>
            <a:cxnLst/>
            <a:rect l="l" t="t" r="r" b="b"/>
            <a:pathLst>
              <a:path w="4888124" h="9437">
                <a:moveTo>
                  <a:pt x="0" y="0"/>
                </a:moveTo>
                <a:lnTo>
                  <a:pt x="4888124" y="0"/>
                </a:lnTo>
                <a:lnTo>
                  <a:pt x="4888124" y="9437"/>
                </a:lnTo>
                <a:lnTo>
                  <a:pt x="0" y="9437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12" name="Shape 10"/>
          <p:cNvSpPr/>
          <p:nvPr/>
        </p:nvSpPr>
        <p:spPr>
          <a:xfrm>
            <a:off x="377461" y="2884040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0"/>
                </a:moveTo>
                <a:lnTo>
                  <a:pt x="113238" y="0"/>
                </a:lnTo>
                <a:cubicBezTo>
                  <a:pt x="175736" y="0"/>
                  <a:pt x="226477" y="50740"/>
                  <a:pt x="226477" y="113238"/>
                </a:cubicBezTo>
                <a:lnTo>
                  <a:pt x="226477" y="113238"/>
                </a:lnTo>
                <a:cubicBezTo>
                  <a:pt x="226477" y="175736"/>
                  <a:pt x="175736" y="226477"/>
                  <a:pt x="113238" y="226477"/>
                </a:cubicBezTo>
                <a:lnTo>
                  <a:pt x="113238" y="226477"/>
                </a:lnTo>
                <a:cubicBezTo>
                  <a:pt x="50740" y="226477"/>
                  <a:pt x="0" y="175736"/>
                  <a:pt x="0" y="11323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3" name="Shape 11"/>
          <p:cNvSpPr/>
          <p:nvPr/>
        </p:nvSpPr>
        <p:spPr>
          <a:xfrm>
            <a:off x="419926" y="2940659"/>
            <a:ext cx="141548" cy="113238"/>
          </a:xfrm>
          <a:custGeom>
            <a:avLst/>
            <a:gdLst/>
            <a:ahLst/>
            <a:cxnLst/>
            <a:rect l="l" t="t" r="r" b="b"/>
            <a:pathLst>
              <a:path w="141548" h="113238"/>
            </a:pathLst>
          </a:custGeom>
          <a:solidFill>
            <a:srgbClr val="86868B"/>
          </a:solidFill>
        </p:spPr>
      </p:sp>
      <p:sp>
        <p:nvSpPr>
          <p:cNvPr id="14" name="Text 12"/>
          <p:cNvSpPr/>
          <p:nvPr/>
        </p:nvSpPr>
        <p:spPr>
          <a:xfrm>
            <a:off x="755015" y="2865120"/>
            <a:ext cx="3952240" cy="267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能写规则</a:t>
            </a:r>
            <a:r>
              <a:rPr lang="en-US" sz="20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20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不能覆盖复杂场景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7461" y="3894929"/>
            <a:ext cx="4888124" cy="9437"/>
          </a:xfrm>
          <a:custGeom>
            <a:avLst/>
            <a:gdLst/>
            <a:ahLst/>
            <a:cxnLst/>
            <a:rect l="l" t="t" r="r" b="b"/>
            <a:pathLst>
              <a:path w="4888124" h="9437">
                <a:moveTo>
                  <a:pt x="0" y="0"/>
                </a:moveTo>
                <a:lnTo>
                  <a:pt x="4888124" y="0"/>
                </a:lnTo>
                <a:lnTo>
                  <a:pt x="4888124" y="9437"/>
                </a:lnTo>
                <a:lnTo>
                  <a:pt x="0" y="9437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16" name="Shape 14"/>
          <p:cNvSpPr/>
          <p:nvPr/>
        </p:nvSpPr>
        <p:spPr>
          <a:xfrm>
            <a:off x="377461" y="3531622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0"/>
                </a:moveTo>
                <a:lnTo>
                  <a:pt x="113238" y="0"/>
                </a:lnTo>
                <a:cubicBezTo>
                  <a:pt x="175736" y="0"/>
                  <a:pt x="226477" y="50740"/>
                  <a:pt x="226477" y="113238"/>
                </a:cubicBezTo>
                <a:lnTo>
                  <a:pt x="226477" y="113238"/>
                </a:lnTo>
                <a:cubicBezTo>
                  <a:pt x="226477" y="175736"/>
                  <a:pt x="175736" y="226477"/>
                  <a:pt x="113238" y="226477"/>
                </a:cubicBezTo>
                <a:lnTo>
                  <a:pt x="113238" y="226477"/>
                </a:lnTo>
                <a:cubicBezTo>
                  <a:pt x="50740" y="226477"/>
                  <a:pt x="0" y="175736"/>
                  <a:pt x="0" y="11323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17" name="Shape 15"/>
          <p:cNvSpPr/>
          <p:nvPr/>
        </p:nvSpPr>
        <p:spPr>
          <a:xfrm>
            <a:off x="419926" y="3588241"/>
            <a:ext cx="141548" cy="113238"/>
          </a:xfrm>
          <a:custGeom>
            <a:avLst/>
            <a:gdLst/>
            <a:ahLst/>
            <a:cxnLst/>
            <a:rect l="l" t="t" r="r" b="b"/>
            <a:pathLst>
              <a:path w="141548" h="113238"/>
            </a:pathLst>
          </a:custGeom>
          <a:solidFill>
            <a:srgbClr val="86868B"/>
          </a:solidFill>
        </p:spPr>
      </p:sp>
      <p:sp>
        <p:nvSpPr>
          <p:cNvPr id="18" name="Text 16"/>
          <p:cNvSpPr/>
          <p:nvPr/>
        </p:nvSpPr>
        <p:spPr>
          <a:xfrm>
            <a:off x="755015" y="3512820"/>
            <a:ext cx="3644900" cy="238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能看数据</a:t>
            </a:r>
            <a:r>
              <a:rPr lang="en-US" sz="20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20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不能编译决策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77461" y="4542511"/>
            <a:ext cx="4888124" cy="9437"/>
          </a:xfrm>
          <a:custGeom>
            <a:avLst/>
            <a:gdLst/>
            <a:ahLst/>
            <a:cxnLst/>
            <a:rect l="l" t="t" r="r" b="b"/>
            <a:pathLst>
              <a:path w="4888124" h="9437">
                <a:moveTo>
                  <a:pt x="0" y="0"/>
                </a:moveTo>
                <a:lnTo>
                  <a:pt x="4888124" y="0"/>
                </a:lnTo>
                <a:lnTo>
                  <a:pt x="4888124" y="9437"/>
                </a:lnTo>
                <a:lnTo>
                  <a:pt x="0" y="9437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20" name="Shape 18"/>
          <p:cNvSpPr/>
          <p:nvPr/>
        </p:nvSpPr>
        <p:spPr>
          <a:xfrm>
            <a:off x="377461" y="4179204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0"/>
                </a:moveTo>
                <a:lnTo>
                  <a:pt x="113238" y="0"/>
                </a:lnTo>
                <a:cubicBezTo>
                  <a:pt x="175736" y="0"/>
                  <a:pt x="226477" y="50740"/>
                  <a:pt x="226477" y="113238"/>
                </a:cubicBezTo>
                <a:lnTo>
                  <a:pt x="226477" y="113238"/>
                </a:lnTo>
                <a:cubicBezTo>
                  <a:pt x="226477" y="175736"/>
                  <a:pt x="175736" y="226477"/>
                  <a:pt x="113238" y="226477"/>
                </a:cubicBezTo>
                <a:lnTo>
                  <a:pt x="113238" y="226477"/>
                </a:lnTo>
                <a:cubicBezTo>
                  <a:pt x="50740" y="226477"/>
                  <a:pt x="0" y="175736"/>
                  <a:pt x="0" y="11323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21" name="Shape 19"/>
          <p:cNvSpPr/>
          <p:nvPr/>
        </p:nvSpPr>
        <p:spPr>
          <a:xfrm>
            <a:off x="419926" y="4235824"/>
            <a:ext cx="141548" cy="113238"/>
          </a:xfrm>
          <a:custGeom>
            <a:avLst/>
            <a:gdLst/>
            <a:ahLst/>
            <a:cxnLst/>
            <a:rect l="l" t="t" r="r" b="b"/>
            <a:pathLst>
              <a:path w="141548" h="113238"/>
            </a:pathLst>
          </a:custGeom>
          <a:solidFill>
            <a:srgbClr val="86868B"/>
          </a:solidFill>
        </p:spPr>
      </p:sp>
      <p:sp>
        <p:nvSpPr>
          <p:cNvPr id="22" name="Text 20"/>
          <p:cNvSpPr/>
          <p:nvPr/>
        </p:nvSpPr>
        <p:spPr>
          <a:xfrm>
            <a:off x="755015" y="4160520"/>
            <a:ext cx="4273550" cy="226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能沉淀文档</a:t>
            </a:r>
            <a:r>
              <a:rPr lang="en-US" sz="20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20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不能低成本资产化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77461" y="4826786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0"/>
                </a:moveTo>
                <a:lnTo>
                  <a:pt x="113238" y="0"/>
                </a:lnTo>
                <a:cubicBezTo>
                  <a:pt x="175736" y="0"/>
                  <a:pt x="226477" y="50740"/>
                  <a:pt x="226477" y="113238"/>
                </a:cubicBezTo>
                <a:lnTo>
                  <a:pt x="226477" y="113238"/>
                </a:lnTo>
                <a:cubicBezTo>
                  <a:pt x="226477" y="175736"/>
                  <a:pt x="175736" y="226477"/>
                  <a:pt x="113238" y="226477"/>
                </a:cubicBezTo>
                <a:lnTo>
                  <a:pt x="113238" y="226477"/>
                </a:lnTo>
                <a:cubicBezTo>
                  <a:pt x="50740" y="226477"/>
                  <a:pt x="0" y="175736"/>
                  <a:pt x="0" y="11323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F5F5F5"/>
          </a:solidFill>
        </p:spPr>
      </p:sp>
      <p:sp>
        <p:nvSpPr>
          <p:cNvPr id="24" name="Shape 22"/>
          <p:cNvSpPr/>
          <p:nvPr/>
        </p:nvSpPr>
        <p:spPr>
          <a:xfrm>
            <a:off x="419926" y="4883406"/>
            <a:ext cx="141548" cy="113238"/>
          </a:xfrm>
          <a:custGeom>
            <a:avLst/>
            <a:gdLst/>
            <a:ahLst/>
            <a:cxnLst/>
            <a:rect l="l" t="t" r="r" b="b"/>
            <a:pathLst>
              <a:path w="141548" h="113238"/>
            </a:pathLst>
          </a:custGeom>
          <a:solidFill>
            <a:srgbClr val="86868B"/>
          </a:solidFill>
        </p:spPr>
      </p:sp>
      <p:sp>
        <p:nvSpPr>
          <p:cNvPr id="25" name="Text 23"/>
          <p:cNvSpPr/>
          <p:nvPr/>
        </p:nvSpPr>
        <p:spPr>
          <a:xfrm>
            <a:off x="755015" y="4808220"/>
            <a:ext cx="4297680" cy="376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能给建议</a:t>
            </a:r>
            <a:r>
              <a:rPr lang="en-US" sz="20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20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不能连到执行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871587" y="3132929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226477" y="0"/>
                </a:moveTo>
                <a:lnTo>
                  <a:pt x="226477" y="0"/>
                </a:lnTo>
                <a:cubicBezTo>
                  <a:pt x="351473" y="0"/>
                  <a:pt x="452954" y="101481"/>
                  <a:pt x="452954" y="226477"/>
                </a:cubicBezTo>
                <a:lnTo>
                  <a:pt x="452954" y="226477"/>
                </a:lnTo>
                <a:cubicBezTo>
                  <a:pt x="452954" y="351473"/>
                  <a:pt x="351473" y="452954"/>
                  <a:pt x="226477" y="452954"/>
                </a:cubicBezTo>
                <a:lnTo>
                  <a:pt x="226477" y="452954"/>
                </a:lnTo>
                <a:cubicBezTo>
                  <a:pt x="101481" y="452954"/>
                  <a:pt x="0" y="351473"/>
                  <a:pt x="0" y="226477"/>
                </a:cubicBezTo>
                <a:lnTo>
                  <a:pt x="0" y="226477"/>
                </a:lnTo>
                <a:cubicBezTo>
                  <a:pt x="0" y="101481"/>
                  <a:pt x="101481" y="0"/>
                  <a:pt x="226477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7" name="Shape 25"/>
          <p:cNvSpPr/>
          <p:nvPr/>
        </p:nvSpPr>
        <p:spPr>
          <a:xfrm>
            <a:off x="6015495" y="3274477"/>
            <a:ext cx="169858" cy="169858"/>
          </a:xfrm>
          <a:custGeom>
            <a:avLst/>
            <a:gdLst/>
            <a:ahLst/>
            <a:cxnLst/>
            <a:rect l="l" t="t" r="r" b="b"/>
            <a:pathLst>
              <a:path w="169858" h="169858">
                <a:moveTo>
                  <a:pt x="166739" y="92426"/>
                </a:moveTo>
                <a:cubicBezTo>
                  <a:pt x="170886" y="88279"/>
                  <a:pt x="170886" y="81545"/>
                  <a:pt x="166739" y="77398"/>
                </a:cubicBezTo>
                <a:lnTo>
                  <a:pt x="113659" y="24318"/>
                </a:lnTo>
                <a:cubicBezTo>
                  <a:pt x="109512" y="20171"/>
                  <a:pt x="102777" y="20171"/>
                  <a:pt x="98630" y="24318"/>
                </a:cubicBezTo>
                <a:cubicBezTo>
                  <a:pt x="94483" y="28464"/>
                  <a:pt x="94483" y="35199"/>
                  <a:pt x="98630" y="39346"/>
                </a:cubicBezTo>
                <a:lnTo>
                  <a:pt x="133597" y="74313"/>
                </a:lnTo>
                <a:lnTo>
                  <a:pt x="10616" y="74313"/>
                </a:lnTo>
                <a:cubicBezTo>
                  <a:pt x="4744" y="74313"/>
                  <a:pt x="0" y="79057"/>
                  <a:pt x="0" y="84929"/>
                </a:cubicBezTo>
                <a:cubicBezTo>
                  <a:pt x="0" y="90801"/>
                  <a:pt x="4744" y="95545"/>
                  <a:pt x="10616" y="95545"/>
                </a:cubicBezTo>
                <a:lnTo>
                  <a:pt x="133597" y="95545"/>
                </a:lnTo>
                <a:lnTo>
                  <a:pt x="98630" y="130512"/>
                </a:lnTo>
                <a:cubicBezTo>
                  <a:pt x="94483" y="134659"/>
                  <a:pt x="94483" y="141393"/>
                  <a:pt x="98630" y="145540"/>
                </a:cubicBezTo>
                <a:cubicBezTo>
                  <a:pt x="102777" y="149687"/>
                  <a:pt x="109512" y="149687"/>
                  <a:pt x="113659" y="145540"/>
                </a:cubicBezTo>
                <a:lnTo>
                  <a:pt x="166739" y="9246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5753557" y="3661375"/>
            <a:ext cx="745486" cy="1698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90" b="1" kern="0" spc="45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EVOLUTION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28479" y="1500409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188731" y="0"/>
                </a:moveTo>
                <a:lnTo>
                  <a:pt x="188731" y="0"/>
                </a:lnTo>
                <a:cubicBezTo>
                  <a:pt x="292894" y="0"/>
                  <a:pt x="377461" y="84567"/>
                  <a:pt x="377461" y="188731"/>
                </a:cubicBezTo>
                <a:lnTo>
                  <a:pt x="377461" y="188731"/>
                </a:lnTo>
                <a:cubicBezTo>
                  <a:pt x="377461" y="292894"/>
                  <a:pt x="292894" y="377461"/>
                  <a:pt x="188731" y="377461"/>
                </a:cubicBezTo>
                <a:lnTo>
                  <a:pt x="188731" y="377461"/>
                </a:lnTo>
                <a:cubicBezTo>
                  <a:pt x="84567" y="377461"/>
                  <a:pt x="0" y="292894"/>
                  <a:pt x="0" y="188731"/>
                </a:cubicBezTo>
                <a:lnTo>
                  <a:pt x="0" y="188731"/>
                </a:lnTo>
                <a:cubicBezTo>
                  <a:pt x="0" y="84567"/>
                  <a:pt x="84567" y="0"/>
                  <a:pt x="188731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0" name="Text 28"/>
          <p:cNvSpPr/>
          <p:nvPr/>
        </p:nvSpPr>
        <p:spPr>
          <a:xfrm>
            <a:off x="6947352" y="1557028"/>
            <a:ext cx="424644" cy="2642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19179" y="1590056"/>
            <a:ext cx="396334" cy="198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kern="0" spc="26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NOW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28479" y="2599765"/>
            <a:ext cx="4888124" cy="9437"/>
          </a:xfrm>
          <a:custGeom>
            <a:avLst/>
            <a:gdLst/>
            <a:ahLst/>
            <a:cxnLst/>
            <a:rect l="l" t="t" r="r" b="b"/>
            <a:pathLst>
              <a:path w="4888124" h="9437">
                <a:moveTo>
                  <a:pt x="0" y="0"/>
                </a:moveTo>
                <a:lnTo>
                  <a:pt x="4888124" y="0"/>
                </a:lnTo>
                <a:lnTo>
                  <a:pt x="4888124" y="9437"/>
                </a:lnTo>
                <a:lnTo>
                  <a:pt x="0" y="9437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33" name="Shape 31"/>
          <p:cNvSpPr/>
          <p:nvPr/>
        </p:nvSpPr>
        <p:spPr>
          <a:xfrm>
            <a:off x="6928479" y="2236458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0"/>
                </a:moveTo>
                <a:lnTo>
                  <a:pt x="113238" y="0"/>
                </a:lnTo>
                <a:cubicBezTo>
                  <a:pt x="175736" y="0"/>
                  <a:pt x="226477" y="50740"/>
                  <a:pt x="226477" y="113238"/>
                </a:cubicBezTo>
                <a:lnTo>
                  <a:pt x="226477" y="113238"/>
                </a:lnTo>
                <a:cubicBezTo>
                  <a:pt x="226477" y="175736"/>
                  <a:pt x="175736" y="226477"/>
                  <a:pt x="113238" y="226477"/>
                </a:cubicBezTo>
                <a:lnTo>
                  <a:pt x="113238" y="226477"/>
                </a:lnTo>
                <a:cubicBezTo>
                  <a:pt x="50740" y="226477"/>
                  <a:pt x="0" y="175736"/>
                  <a:pt x="0" y="11323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992176" y="2293077"/>
            <a:ext cx="99084" cy="113238"/>
          </a:xfrm>
          <a:custGeom>
            <a:avLst/>
            <a:gdLst/>
            <a:ahLst/>
            <a:cxnLst/>
            <a:rect l="l" t="t" r="r" b="b"/>
            <a:pathLst>
              <a:path w="99084" h="113238">
                <a:moveTo>
                  <a:pt x="96164" y="15504"/>
                </a:moveTo>
                <a:cubicBezTo>
                  <a:pt x="99327" y="17804"/>
                  <a:pt x="100035" y="22227"/>
                  <a:pt x="97734" y="25390"/>
                </a:cubicBezTo>
                <a:lnTo>
                  <a:pt x="41115" y="103242"/>
                </a:lnTo>
                <a:cubicBezTo>
                  <a:pt x="39899" y="104922"/>
                  <a:pt x="38019" y="105962"/>
                  <a:pt x="35940" y="106139"/>
                </a:cubicBezTo>
                <a:cubicBezTo>
                  <a:pt x="33861" y="106316"/>
                  <a:pt x="31848" y="105542"/>
                  <a:pt x="30389" y="104082"/>
                </a:cubicBezTo>
                <a:lnTo>
                  <a:pt x="2079" y="75772"/>
                </a:lnTo>
                <a:cubicBezTo>
                  <a:pt x="-686" y="73008"/>
                  <a:pt x="-686" y="68518"/>
                  <a:pt x="2079" y="65753"/>
                </a:cubicBezTo>
                <a:cubicBezTo>
                  <a:pt x="4844" y="62989"/>
                  <a:pt x="9333" y="62989"/>
                  <a:pt x="12098" y="65753"/>
                </a:cubicBezTo>
                <a:lnTo>
                  <a:pt x="34547" y="88202"/>
                </a:lnTo>
                <a:lnTo>
                  <a:pt x="86300" y="17052"/>
                </a:lnTo>
                <a:cubicBezTo>
                  <a:pt x="88600" y="13889"/>
                  <a:pt x="93024" y="13182"/>
                  <a:pt x="96186" y="15482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5" name="Text 33"/>
          <p:cNvSpPr/>
          <p:nvPr/>
        </p:nvSpPr>
        <p:spPr>
          <a:xfrm>
            <a:off x="7305675" y="2217420"/>
            <a:ext cx="451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LLM</a:t>
            </a:r>
            <a:r>
              <a:rPr lang="en-US" sz="20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负责</a:t>
            </a: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语义理解与上下文编译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928479" y="3247347"/>
            <a:ext cx="4888124" cy="9437"/>
          </a:xfrm>
          <a:custGeom>
            <a:avLst/>
            <a:gdLst/>
            <a:ahLst/>
            <a:cxnLst/>
            <a:rect l="l" t="t" r="r" b="b"/>
            <a:pathLst>
              <a:path w="4888124" h="9437">
                <a:moveTo>
                  <a:pt x="0" y="0"/>
                </a:moveTo>
                <a:lnTo>
                  <a:pt x="4888124" y="0"/>
                </a:lnTo>
                <a:lnTo>
                  <a:pt x="4888124" y="9437"/>
                </a:lnTo>
                <a:lnTo>
                  <a:pt x="0" y="9437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37" name="Shape 35"/>
          <p:cNvSpPr/>
          <p:nvPr/>
        </p:nvSpPr>
        <p:spPr>
          <a:xfrm>
            <a:off x="6928479" y="2884040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0"/>
                </a:moveTo>
                <a:lnTo>
                  <a:pt x="113238" y="0"/>
                </a:lnTo>
                <a:cubicBezTo>
                  <a:pt x="175736" y="0"/>
                  <a:pt x="226477" y="50740"/>
                  <a:pt x="226477" y="113238"/>
                </a:cubicBezTo>
                <a:lnTo>
                  <a:pt x="226477" y="113238"/>
                </a:lnTo>
                <a:cubicBezTo>
                  <a:pt x="226477" y="175736"/>
                  <a:pt x="175736" y="226477"/>
                  <a:pt x="113238" y="226477"/>
                </a:cubicBezTo>
                <a:lnTo>
                  <a:pt x="113238" y="226477"/>
                </a:lnTo>
                <a:cubicBezTo>
                  <a:pt x="50740" y="226477"/>
                  <a:pt x="0" y="175736"/>
                  <a:pt x="0" y="11323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992176" y="2940659"/>
            <a:ext cx="99084" cy="113238"/>
          </a:xfrm>
          <a:custGeom>
            <a:avLst/>
            <a:gdLst/>
            <a:ahLst/>
            <a:cxnLst/>
            <a:rect l="l" t="t" r="r" b="b"/>
            <a:pathLst>
              <a:path w="99084" h="113238">
                <a:moveTo>
                  <a:pt x="96164" y="15504"/>
                </a:moveTo>
                <a:cubicBezTo>
                  <a:pt x="99327" y="17804"/>
                  <a:pt x="100035" y="22227"/>
                  <a:pt x="97734" y="25390"/>
                </a:cubicBezTo>
                <a:lnTo>
                  <a:pt x="41115" y="103242"/>
                </a:lnTo>
                <a:cubicBezTo>
                  <a:pt x="39899" y="104922"/>
                  <a:pt x="38019" y="105962"/>
                  <a:pt x="35940" y="106139"/>
                </a:cubicBezTo>
                <a:cubicBezTo>
                  <a:pt x="33861" y="106316"/>
                  <a:pt x="31848" y="105542"/>
                  <a:pt x="30389" y="104082"/>
                </a:cubicBezTo>
                <a:lnTo>
                  <a:pt x="2079" y="75772"/>
                </a:lnTo>
                <a:cubicBezTo>
                  <a:pt x="-686" y="73008"/>
                  <a:pt x="-686" y="68518"/>
                  <a:pt x="2079" y="65753"/>
                </a:cubicBezTo>
                <a:cubicBezTo>
                  <a:pt x="4844" y="62989"/>
                  <a:pt x="9333" y="62989"/>
                  <a:pt x="12098" y="65753"/>
                </a:cubicBezTo>
                <a:lnTo>
                  <a:pt x="34547" y="88202"/>
                </a:lnTo>
                <a:lnTo>
                  <a:pt x="86300" y="17052"/>
                </a:lnTo>
                <a:cubicBezTo>
                  <a:pt x="88600" y="13889"/>
                  <a:pt x="93024" y="13182"/>
                  <a:pt x="96186" y="15482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9" name="Text 37"/>
          <p:cNvSpPr/>
          <p:nvPr/>
        </p:nvSpPr>
        <p:spPr>
          <a:xfrm>
            <a:off x="7305675" y="2876550"/>
            <a:ext cx="4273550" cy="252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Agent</a:t>
            </a:r>
            <a:r>
              <a:rPr lang="en-US" sz="20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负责</a:t>
            </a: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动作连接与执行推进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928479" y="3894929"/>
            <a:ext cx="4888124" cy="9437"/>
          </a:xfrm>
          <a:custGeom>
            <a:avLst/>
            <a:gdLst/>
            <a:ahLst/>
            <a:cxnLst/>
            <a:rect l="l" t="t" r="r" b="b"/>
            <a:pathLst>
              <a:path w="4888124" h="9437">
                <a:moveTo>
                  <a:pt x="0" y="0"/>
                </a:moveTo>
                <a:lnTo>
                  <a:pt x="4888124" y="0"/>
                </a:lnTo>
                <a:lnTo>
                  <a:pt x="4888124" y="9437"/>
                </a:lnTo>
                <a:lnTo>
                  <a:pt x="0" y="9437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41" name="Shape 39"/>
          <p:cNvSpPr/>
          <p:nvPr/>
        </p:nvSpPr>
        <p:spPr>
          <a:xfrm>
            <a:off x="6928479" y="3531622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0"/>
                </a:moveTo>
                <a:lnTo>
                  <a:pt x="113238" y="0"/>
                </a:lnTo>
                <a:cubicBezTo>
                  <a:pt x="175736" y="0"/>
                  <a:pt x="226477" y="50740"/>
                  <a:pt x="226477" y="113238"/>
                </a:cubicBezTo>
                <a:lnTo>
                  <a:pt x="226477" y="113238"/>
                </a:lnTo>
                <a:cubicBezTo>
                  <a:pt x="226477" y="175736"/>
                  <a:pt x="175736" y="226477"/>
                  <a:pt x="113238" y="226477"/>
                </a:cubicBezTo>
                <a:lnTo>
                  <a:pt x="113238" y="226477"/>
                </a:lnTo>
                <a:cubicBezTo>
                  <a:pt x="50740" y="226477"/>
                  <a:pt x="0" y="175736"/>
                  <a:pt x="0" y="11323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992176" y="3588241"/>
            <a:ext cx="99084" cy="113238"/>
          </a:xfrm>
          <a:custGeom>
            <a:avLst/>
            <a:gdLst/>
            <a:ahLst/>
            <a:cxnLst/>
            <a:rect l="l" t="t" r="r" b="b"/>
            <a:pathLst>
              <a:path w="99084" h="113238">
                <a:moveTo>
                  <a:pt x="96164" y="15504"/>
                </a:moveTo>
                <a:cubicBezTo>
                  <a:pt x="99327" y="17804"/>
                  <a:pt x="100035" y="22227"/>
                  <a:pt x="97734" y="25390"/>
                </a:cubicBezTo>
                <a:lnTo>
                  <a:pt x="41115" y="103242"/>
                </a:lnTo>
                <a:cubicBezTo>
                  <a:pt x="39899" y="104922"/>
                  <a:pt x="38019" y="105962"/>
                  <a:pt x="35940" y="106139"/>
                </a:cubicBezTo>
                <a:cubicBezTo>
                  <a:pt x="33861" y="106316"/>
                  <a:pt x="31848" y="105542"/>
                  <a:pt x="30389" y="104082"/>
                </a:cubicBezTo>
                <a:lnTo>
                  <a:pt x="2079" y="75772"/>
                </a:lnTo>
                <a:cubicBezTo>
                  <a:pt x="-686" y="73008"/>
                  <a:pt x="-686" y="68518"/>
                  <a:pt x="2079" y="65753"/>
                </a:cubicBezTo>
                <a:cubicBezTo>
                  <a:pt x="4844" y="62989"/>
                  <a:pt x="9333" y="62989"/>
                  <a:pt x="12098" y="65753"/>
                </a:cubicBezTo>
                <a:lnTo>
                  <a:pt x="34547" y="88202"/>
                </a:lnTo>
                <a:lnTo>
                  <a:pt x="86300" y="17052"/>
                </a:lnTo>
                <a:cubicBezTo>
                  <a:pt x="88600" y="13889"/>
                  <a:pt x="93024" y="13182"/>
                  <a:pt x="96186" y="15482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3" name="Text 41"/>
          <p:cNvSpPr/>
          <p:nvPr/>
        </p:nvSpPr>
        <p:spPr>
          <a:xfrm>
            <a:off x="7305675" y="3502660"/>
            <a:ext cx="407098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Eval / Replay</a:t>
            </a:r>
            <a:r>
              <a:rPr lang="en-US" sz="20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负责</a:t>
            </a: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持续优化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6928479" y="4179204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13238" y="0"/>
                </a:moveTo>
                <a:lnTo>
                  <a:pt x="113238" y="0"/>
                </a:lnTo>
                <a:cubicBezTo>
                  <a:pt x="175736" y="0"/>
                  <a:pt x="226477" y="50740"/>
                  <a:pt x="226477" y="113238"/>
                </a:cubicBezTo>
                <a:lnTo>
                  <a:pt x="226477" y="113238"/>
                </a:lnTo>
                <a:cubicBezTo>
                  <a:pt x="226477" y="175736"/>
                  <a:pt x="175736" y="226477"/>
                  <a:pt x="113238" y="226477"/>
                </a:cubicBezTo>
                <a:lnTo>
                  <a:pt x="113238" y="226477"/>
                </a:lnTo>
                <a:cubicBezTo>
                  <a:pt x="50740" y="226477"/>
                  <a:pt x="0" y="175736"/>
                  <a:pt x="0" y="113238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6992176" y="4235824"/>
            <a:ext cx="99084" cy="113238"/>
          </a:xfrm>
          <a:custGeom>
            <a:avLst/>
            <a:gdLst/>
            <a:ahLst/>
            <a:cxnLst/>
            <a:rect l="l" t="t" r="r" b="b"/>
            <a:pathLst>
              <a:path w="99084" h="113238">
                <a:moveTo>
                  <a:pt x="96164" y="15504"/>
                </a:moveTo>
                <a:cubicBezTo>
                  <a:pt x="99327" y="17804"/>
                  <a:pt x="100035" y="22227"/>
                  <a:pt x="97734" y="25390"/>
                </a:cubicBezTo>
                <a:lnTo>
                  <a:pt x="41115" y="103242"/>
                </a:lnTo>
                <a:cubicBezTo>
                  <a:pt x="39899" y="104922"/>
                  <a:pt x="38019" y="105962"/>
                  <a:pt x="35940" y="106139"/>
                </a:cubicBezTo>
                <a:cubicBezTo>
                  <a:pt x="33861" y="106316"/>
                  <a:pt x="31848" y="105542"/>
                  <a:pt x="30389" y="104082"/>
                </a:cubicBezTo>
                <a:lnTo>
                  <a:pt x="2079" y="75772"/>
                </a:lnTo>
                <a:cubicBezTo>
                  <a:pt x="-686" y="73008"/>
                  <a:pt x="-686" y="68518"/>
                  <a:pt x="2079" y="65753"/>
                </a:cubicBezTo>
                <a:cubicBezTo>
                  <a:pt x="4844" y="62989"/>
                  <a:pt x="9333" y="62989"/>
                  <a:pt x="12098" y="65753"/>
                </a:cubicBezTo>
                <a:lnTo>
                  <a:pt x="34547" y="88202"/>
                </a:lnTo>
                <a:lnTo>
                  <a:pt x="86300" y="17052"/>
                </a:lnTo>
                <a:cubicBezTo>
                  <a:pt x="88600" y="13889"/>
                  <a:pt x="93024" y="13182"/>
                  <a:pt x="96186" y="15482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6" name="Text 44"/>
          <p:cNvSpPr/>
          <p:nvPr/>
        </p:nvSpPr>
        <p:spPr>
          <a:xfrm>
            <a:off x="7305675" y="4160520"/>
            <a:ext cx="4220845" cy="454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工作台</a:t>
            </a:r>
            <a:r>
              <a:rPr lang="en-US" sz="200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承接</a:t>
            </a: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人机共建与闭环沉淀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377461" y="5775158"/>
            <a:ext cx="11437077" cy="18873"/>
          </a:xfrm>
          <a:custGeom>
            <a:avLst/>
            <a:gdLst/>
            <a:ahLst/>
            <a:cxnLst/>
            <a:rect l="l" t="t" r="r" b="b"/>
            <a:pathLst>
              <a:path w="11437077" h="18873">
                <a:moveTo>
                  <a:pt x="0" y="0"/>
                </a:moveTo>
                <a:lnTo>
                  <a:pt x="11437077" y="0"/>
                </a:lnTo>
                <a:lnTo>
                  <a:pt x="11437077" y="18873"/>
                </a:lnTo>
                <a:lnTo>
                  <a:pt x="0" y="18873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48" name="Shape 46"/>
          <p:cNvSpPr/>
          <p:nvPr/>
        </p:nvSpPr>
        <p:spPr>
          <a:xfrm>
            <a:off x="377461" y="6018149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75494" y="0"/>
                </a:moveTo>
                <a:lnTo>
                  <a:pt x="377460" y="0"/>
                </a:lnTo>
                <a:cubicBezTo>
                  <a:pt x="419126" y="0"/>
                  <a:pt x="452954" y="33828"/>
                  <a:pt x="452954" y="75494"/>
                </a:cubicBezTo>
                <a:lnTo>
                  <a:pt x="452954" y="377460"/>
                </a:lnTo>
                <a:cubicBezTo>
                  <a:pt x="452954" y="419154"/>
                  <a:pt x="419154" y="452954"/>
                  <a:pt x="377460" y="452954"/>
                </a:cubicBezTo>
                <a:lnTo>
                  <a:pt x="75494" y="452954"/>
                </a:lnTo>
                <a:cubicBezTo>
                  <a:pt x="33828" y="452954"/>
                  <a:pt x="0" y="419126"/>
                  <a:pt x="0" y="377460"/>
                </a:cubicBezTo>
                <a:lnTo>
                  <a:pt x="0" y="75494"/>
                </a:lnTo>
                <a:cubicBezTo>
                  <a:pt x="0" y="33828"/>
                  <a:pt x="33828" y="0"/>
                  <a:pt x="75494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9" name="Shape 47"/>
          <p:cNvSpPr/>
          <p:nvPr/>
        </p:nvSpPr>
        <p:spPr>
          <a:xfrm>
            <a:off x="485981" y="6150260"/>
            <a:ext cx="235913" cy="188731"/>
          </a:xfrm>
          <a:custGeom>
            <a:avLst/>
            <a:gdLst/>
            <a:ahLst/>
            <a:cxnLst/>
            <a:rect l="l" t="t" r="r" b="b"/>
            <a:pathLst>
              <a:path w="235913" h="188731"/>
            </a:pathLst>
          </a:cu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981399" y="6011071"/>
            <a:ext cx="4274749" cy="1698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90" b="1" kern="0" spc="4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81710" y="6218555"/>
            <a:ext cx="7947025" cy="452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本体第一次从</a:t>
            </a:r>
            <a:r>
              <a:rPr lang="en-US" sz="2000" b="1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"静态知识层"</a:t>
            </a:r>
            <a:r>
              <a:rPr lang="en-US" sz="20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升级为</a:t>
            </a:r>
            <a:r>
              <a:rPr lang="en-US" sz="20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"动态决策层</a:t>
            </a:r>
            <a:r>
              <a:rPr lang="en-US" sz="163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356231"/>
            <a:ext cx="11541879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kern="0" spc="196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641215"/>
            <a:ext cx="11728900" cy="623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9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核心三大组件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684" y="1625303"/>
            <a:ext cx="3624649" cy="4488508"/>
          </a:xfrm>
          <a:custGeom>
            <a:avLst/>
            <a:gdLst/>
            <a:ahLst/>
            <a:cxnLst/>
            <a:rect l="l" t="t" r="r" b="b"/>
            <a:pathLst>
              <a:path w="3624649" h="4488508">
                <a:moveTo>
                  <a:pt x="142485" y="0"/>
                </a:moveTo>
                <a:lnTo>
                  <a:pt x="3482164" y="0"/>
                </a:lnTo>
                <a:cubicBezTo>
                  <a:pt x="3560856" y="0"/>
                  <a:pt x="3624649" y="63793"/>
                  <a:pt x="3624649" y="142485"/>
                </a:cubicBezTo>
                <a:lnTo>
                  <a:pt x="3624649" y="4346023"/>
                </a:lnTo>
                <a:cubicBezTo>
                  <a:pt x="3624649" y="4424716"/>
                  <a:pt x="3560856" y="4488508"/>
                  <a:pt x="3482164" y="4488508"/>
                </a:cubicBezTo>
                <a:lnTo>
                  <a:pt x="142485" y="4488508"/>
                </a:lnTo>
                <a:cubicBezTo>
                  <a:pt x="63793" y="4488508"/>
                  <a:pt x="0" y="4424716"/>
                  <a:pt x="0" y="4346023"/>
                </a:cubicBezTo>
                <a:lnTo>
                  <a:pt x="0" y="142485"/>
                </a:lnTo>
                <a:cubicBezTo>
                  <a:pt x="0" y="63845"/>
                  <a:pt x="63845" y="0"/>
                  <a:pt x="14248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0121" y="1914741"/>
            <a:ext cx="569969" cy="569969"/>
          </a:xfrm>
          <a:custGeom>
            <a:avLst/>
            <a:gdLst/>
            <a:ahLst/>
            <a:cxnLst/>
            <a:rect l="l" t="t" r="r" b="b"/>
            <a:pathLst>
              <a:path w="569969" h="569969">
                <a:moveTo>
                  <a:pt x="142492" y="0"/>
                </a:moveTo>
                <a:lnTo>
                  <a:pt x="427477" y="0"/>
                </a:lnTo>
                <a:cubicBezTo>
                  <a:pt x="506121" y="0"/>
                  <a:pt x="569969" y="63849"/>
                  <a:pt x="569969" y="142492"/>
                </a:cubicBezTo>
                <a:lnTo>
                  <a:pt x="569969" y="427477"/>
                </a:lnTo>
                <a:cubicBezTo>
                  <a:pt x="569969" y="506121"/>
                  <a:pt x="506121" y="569969"/>
                  <a:pt x="427477" y="569969"/>
                </a:cubicBezTo>
                <a:lnTo>
                  <a:pt x="142492" y="569969"/>
                </a:lnTo>
                <a:cubicBezTo>
                  <a:pt x="63849" y="569969"/>
                  <a:pt x="0" y="506121"/>
                  <a:pt x="0" y="427477"/>
                </a:cubicBezTo>
                <a:lnTo>
                  <a:pt x="0" y="142492"/>
                </a:lnTo>
                <a:cubicBezTo>
                  <a:pt x="0" y="63849"/>
                  <a:pt x="63849" y="0"/>
                  <a:pt x="142492" y="0"/>
                </a:cubicBezTo>
                <a:close/>
              </a:path>
            </a:pathLst>
          </a:custGeom>
          <a:solidFill>
            <a:srgbClr val="1D1D1D"/>
          </a:solidFill>
        </p:spPr>
      </p:sp>
      <p:sp>
        <p:nvSpPr>
          <p:cNvPr id="6" name="Text 4"/>
          <p:cNvSpPr/>
          <p:nvPr/>
        </p:nvSpPr>
        <p:spPr>
          <a:xfrm>
            <a:off x="798806" y="2039421"/>
            <a:ext cx="409665" cy="320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5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0121" y="2662825"/>
            <a:ext cx="3206077" cy="480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本体建设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0121" y="3250606"/>
            <a:ext cx="3134831" cy="2493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先把企业经营世界定义清楚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5725" y="3767141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0" name="Text 8"/>
          <p:cNvSpPr/>
          <p:nvPr/>
        </p:nvSpPr>
        <p:spPr>
          <a:xfrm>
            <a:off x="912841" y="3713706"/>
            <a:ext cx="1781154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企业里到底有哪些核心对象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5725" y="4105560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2" name="Text 10"/>
          <p:cNvSpPr/>
          <p:nvPr/>
        </p:nvSpPr>
        <p:spPr>
          <a:xfrm>
            <a:off x="912841" y="4052126"/>
            <a:ext cx="2493616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什么叫问题、目标、动作、证据、规则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5725" y="4443980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4" name="Text 12"/>
          <p:cNvSpPr/>
          <p:nvPr/>
        </p:nvSpPr>
        <p:spPr>
          <a:xfrm>
            <a:off x="912841" y="4390545"/>
            <a:ext cx="1638662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这些对象之间是什么关系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5725" y="4782399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6" name="Text 14"/>
          <p:cNvSpPr/>
          <p:nvPr/>
        </p:nvSpPr>
        <p:spPr>
          <a:xfrm>
            <a:off x="912841" y="4728964"/>
            <a:ext cx="1496169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什么样的判断可以复用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121" y="5428067"/>
            <a:ext cx="3045774" cy="8906"/>
          </a:xfrm>
          <a:custGeom>
            <a:avLst/>
            <a:gdLst/>
            <a:ahLst/>
            <a:cxnLst/>
            <a:rect l="l" t="t" r="r" b="b"/>
            <a:pathLst>
              <a:path w="3045774" h="8906">
                <a:moveTo>
                  <a:pt x="0" y="0"/>
                </a:moveTo>
                <a:lnTo>
                  <a:pt x="3045774" y="0"/>
                </a:lnTo>
                <a:lnTo>
                  <a:pt x="3045774" y="8906"/>
                </a:lnTo>
                <a:lnTo>
                  <a:pt x="0" y="8906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18" name="Shape 16"/>
          <p:cNvSpPr/>
          <p:nvPr/>
        </p:nvSpPr>
        <p:spPr>
          <a:xfrm>
            <a:off x="667933" y="5655164"/>
            <a:ext cx="124681" cy="124681"/>
          </a:xfrm>
          <a:custGeom>
            <a:avLst/>
            <a:gdLst/>
            <a:ahLst/>
            <a:cxnLst/>
            <a:rect l="l" t="t" r="r" b="b"/>
            <a:pathLst>
              <a:path w="124681" h="124681">
                <a:moveTo>
                  <a:pt x="122392" y="67844"/>
                </a:moveTo>
                <a:cubicBezTo>
                  <a:pt x="125436" y="64800"/>
                  <a:pt x="125436" y="59857"/>
                  <a:pt x="122392" y="56813"/>
                </a:cubicBezTo>
                <a:lnTo>
                  <a:pt x="83429" y="17850"/>
                </a:lnTo>
                <a:cubicBezTo>
                  <a:pt x="80385" y="14806"/>
                  <a:pt x="75442" y="14806"/>
                  <a:pt x="72398" y="17850"/>
                </a:cubicBezTo>
                <a:cubicBezTo>
                  <a:pt x="69354" y="20894"/>
                  <a:pt x="69354" y="25837"/>
                  <a:pt x="72398" y="28881"/>
                </a:cubicBezTo>
                <a:lnTo>
                  <a:pt x="98064" y="54548"/>
                </a:lnTo>
                <a:lnTo>
                  <a:pt x="7793" y="54548"/>
                </a:lnTo>
                <a:cubicBezTo>
                  <a:pt x="3482" y="54548"/>
                  <a:pt x="0" y="58030"/>
                  <a:pt x="0" y="62340"/>
                </a:cubicBezTo>
                <a:cubicBezTo>
                  <a:pt x="0" y="66651"/>
                  <a:pt x="3482" y="70133"/>
                  <a:pt x="7793" y="70133"/>
                </a:cubicBezTo>
                <a:lnTo>
                  <a:pt x="98064" y="70133"/>
                </a:lnTo>
                <a:lnTo>
                  <a:pt x="72398" y="95800"/>
                </a:lnTo>
                <a:cubicBezTo>
                  <a:pt x="69354" y="98844"/>
                  <a:pt x="69354" y="103787"/>
                  <a:pt x="72398" y="106831"/>
                </a:cubicBezTo>
                <a:cubicBezTo>
                  <a:pt x="75442" y="109875"/>
                  <a:pt x="80385" y="109875"/>
                  <a:pt x="83429" y="106831"/>
                </a:cubicBezTo>
                <a:lnTo>
                  <a:pt x="122392" y="67868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19" name="Text 17"/>
          <p:cNvSpPr/>
          <p:nvPr/>
        </p:nvSpPr>
        <p:spPr>
          <a:xfrm>
            <a:off x="877218" y="5610636"/>
            <a:ext cx="1496169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形成企业统一经营语言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81797" y="1625303"/>
            <a:ext cx="3624649" cy="4488508"/>
          </a:xfrm>
          <a:custGeom>
            <a:avLst/>
            <a:gdLst/>
            <a:ahLst/>
            <a:cxnLst/>
            <a:rect l="l" t="t" r="r" b="b"/>
            <a:pathLst>
              <a:path w="3624649" h="4488508">
                <a:moveTo>
                  <a:pt x="142485" y="0"/>
                </a:moveTo>
                <a:lnTo>
                  <a:pt x="3482164" y="0"/>
                </a:lnTo>
                <a:cubicBezTo>
                  <a:pt x="3560856" y="0"/>
                  <a:pt x="3624649" y="63793"/>
                  <a:pt x="3624649" y="142485"/>
                </a:cubicBezTo>
                <a:lnTo>
                  <a:pt x="3624649" y="4346023"/>
                </a:lnTo>
                <a:cubicBezTo>
                  <a:pt x="3624649" y="4424716"/>
                  <a:pt x="3560856" y="4488508"/>
                  <a:pt x="3482164" y="4488508"/>
                </a:cubicBezTo>
                <a:lnTo>
                  <a:pt x="142485" y="4488508"/>
                </a:lnTo>
                <a:cubicBezTo>
                  <a:pt x="63793" y="4488508"/>
                  <a:pt x="0" y="4424716"/>
                  <a:pt x="0" y="4346023"/>
                </a:cubicBezTo>
                <a:lnTo>
                  <a:pt x="0" y="142485"/>
                </a:lnTo>
                <a:cubicBezTo>
                  <a:pt x="0" y="63845"/>
                  <a:pt x="63845" y="0"/>
                  <a:pt x="14248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1235" y="1914741"/>
            <a:ext cx="569969" cy="569969"/>
          </a:xfrm>
          <a:custGeom>
            <a:avLst/>
            <a:gdLst/>
            <a:ahLst/>
            <a:cxnLst/>
            <a:rect l="l" t="t" r="r" b="b"/>
            <a:pathLst>
              <a:path w="569969" h="569969">
                <a:moveTo>
                  <a:pt x="142492" y="0"/>
                </a:moveTo>
                <a:lnTo>
                  <a:pt x="427477" y="0"/>
                </a:lnTo>
                <a:cubicBezTo>
                  <a:pt x="506121" y="0"/>
                  <a:pt x="569969" y="63849"/>
                  <a:pt x="569969" y="142492"/>
                </a:cubicBezTo>
                <a:lnTo>
                  <a:pt x="569969" y="427477"/>
                </a:lnTo>
                <a:cubicBezTo>
                  <a:pt x="569969" y="506121"/>
                  <a:pt x="506121" y="569969"/>
                  <a:pt x="427477" y="569969"/>
                </a:cubicBezTo>
                <a:lnTo>
                  <a:pt x="142492" y="569969"/>
                </a:lnTo>
                <a:cubicBezTo>
                  <a:pt x="63849" y="569969"/>
                  <a:pt x="0" y="506121"/>
                  <a:pt x="0" y="427477"/>
                </a:cubicBezTo>
                <a:lnTo>
                  <a:pt x="0" y="142492"/>
                </a:lnTo>
                <a:cubicBezTo>
                  <a:pt x="0" y="63849"/>
                  <a:pt x="63849" y="0"/>
                  <a:pt x="142492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2" name="Text 20"/>
          <p:cNvSpPr/>
          <p:nvPr/>
        </p:nvSpPr>
        <p:spPr>
          <a:xfrm>
            <a:off x="4697377" y="2039421"/>
            <a:ext cx="454194" cy="320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5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1235" y="2662825"/>
            <a:ext cx="3206077" cy="480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本体大脑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1235" y="3250606"/>
            <a:ext cx="3134831" cy="2493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用统一语义理解问题，并编译成决策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96839" y="3767141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6" name="Text 24"/>
          <p:cNvSpPr/>
          <p:nvPr/>
        </p:nvSpPr>
        <p:spPr>
          <a:xfrm>
            <a:off x="4833955" y="3713706"/>
            <a:ext cx="2636108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如何把数据、知识、目标、约束整合起来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96839" y="4105560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8" name="Text 26"/>
          <p:cNvSpPr/>
          <p:nvPr/>
        </p:nvSpPr>
        <p:spPr>
          <a:xfrm>
            <a:off x="4833955" y="4052126"/>
            <a:ext cx="1781154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如何判断问题类型与优先级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96839" y="4443980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0" name="Text 28"/>
          <p:cNvSpPr/>
          <p:nvPr/>
        </p:nvSpPr>
        <p:spPr>
          <a:xfrm>
            <a:off x="4833955" y="4390545"/>
            <a:ext cx="1923646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如何生成建议动作和执行方案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96839" y="4782399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2" name="Text 30"/>
          <p:cNvSpPr/>
          <p:nvPr/>
        </p:nvSpPr>
        <p:spPr>
          <a:xfrm>
            <a:off x="4833955" y="4728964"/>
            <a:ext cx="2351123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如何把结果沉淀成可持续优化的资产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1235" y="5428067"/>
            <a:ext cx="3045774" cy="8906"/>
          </a:xfrm>
          <a:custGeom>
            <a:avLst/>
            <a:gdLst/>
            <a:ahLst/>
            <a:cxnLst/>
            <a:rect l="l" t="t" r="r" b="b"/>
            <a:pathLst>
              <a:path w="3045774" h="8906">
                <a:moveTo>
                  <a:pt x="0" y="0"/>
                </a:moveTo>
                <a:lnTo>
                  <a:pt x="3045774" y="0"/>
                </a:lnTo>
                <a:lnTo>
                  <a:pt x="3045774" y="8906"/>
                </a:lnTo>
                <a:lnTo>
                  <a:pt x="0" y="8906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34" name="Shape 32"/>
          <p:cNvSpPr/>
          <p:nvPr/>
        </p:nvSpPr>
        <p:spPr>
          <a:xfrm>
            <a:off x="4589046" y="5655164"/>
            <a:ext cx="124681" cy="124681"/>
          </a:xfrm>
          <a:custGeom>
            <a:avLst/>
            <a:gdLst/>
            <a:ahLst/>
            <a:cxnLst/>
            <a:rect l="l" t="t" r="r" b="b"/>
            <a:pathLst>
              <a:path w="124681" h="124681">
                <a:moveTo>
                  <a:pt x="122392" y="67844"/>
                </a:moveTo>
                <a:cubicBezTo>
                  <a:pt x="125436" y="64800"/>
                  <a:pt x="125436" y="59857"/>
                  <a:pt x="122392" y="56813"/>
                </a:cubicBezTo>
                <a:lnTo>
                  <a:pt x="83429" y="17850"/>
                </a:lnTo>
                <a:cubicBezTo>
                  <a:pt x="80385" y="14806"/>
                  <a:pt x="75442" y="14806"/>
                  <a:pt x="72398" y="17850"/>
                </a:cubicBezTo>
                <a:cubicBezTo>
                  <a:pt x="69354" y="20894"/>
                  <a:pt x="69354" y="25837"/>
                  <a:pt x="72398" y="28881"/>
                </a:cubicBezTo>
                <a:lnTo>
                  <a:pt x="98064" y="54548"/>
                </a:lnTo>
                <a:lnTo>
                  <a:pt x="7793" y="54548"/>
                </a:lnTo>
                <a:cubicBezTo>
                  <a:pt x="3482" y="54548"/>
                  <a:pt x="0" y="58030"/>
                  <a:pt x="0" y="62340"/>
                </a:cubicBezTo>
                <a:cubicBezTo>
                  <a:pt x="0" y="66651"/>
                  <a:pt x="3482" y="70133"/>
                  <a:pt x="7793" y="70133"/>
                </a:cubicBezTo>
                <a:lnTo>
                  <a:pt x="98064" y="70133"/>
                </a:lnTo>
                <a:lnTo>
                  <a:pt x="72398" y="95800"/>
                </a:lnTo>
                <a:cubicBezTo>
                  <a:pt x="69354" y="98844"/>
                  <a:pt x="69354" y="103787"/>
                  <a:pt x="72398" y="106831"/>
                </a:cubicBezTo>
                <a:cubicBezTo>
                  <a:pt x="75442" y="109875"/>
                  <a:pt x="80385" y="109875"/>
                  <a:pt x="83429" y="106831"/>
                </a:cubicBezTo>
                <a:lnTo>
                  <a:pt x="122392" y="67868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35" name="Text 33"/>
          <p:cNvSpPr/>
          <p:nvPr/>
        </p:nvSpPr>
        <p:spPr>
          <a:xfrm>
            <a:off x="4798332" y="5610636"/>
            <a:ext cx="1496169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形成企业统一决策中枢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02980" y="1625303"/>
            <a:ext cx="3624649" cy="4488508"/>
          </a:xfrm>
          <a:custGeom>
            <a:avLst/>
            <a:gdLst/>
            <a:ahLst/>
            <a:cxnLst/>
            <a:rect l="l" t="t" r="r" b="b"/>
            <a:pathLst>
              <a:path w="3624649" h="4488508">
                <a:moveTo>
                  <a:pt x="142485" y="0"/>
                </a:moveTo>
                <a:lnTo>
                  <a:pt x="3482164" y="0"/>
                </a:lnTo>
                <a:cubicBezTo>
                  <a:pt x="3560856" y="0"/>
                  <a:pt x="3624649" y="63793"/>
                  <a:pt x="3624649" y="142485"/>
                </a:cubicBezTo>
                <a:lnTo>
                  <a:pt x="3624649" y="4346023"/>
                </a:lnTo>
                <a:cubicBezTo>
                  <a:pt x="3624649" y="4424716"/>
                  <a:pt x="3560856" y="4488508"/>
                  <a:pt x="3482164" y="4488508"/>
                </a:cubicBezTo>
                <a:lnTo>
                  <a:pt x="142485" y="4488508"/>
                </a:lnTo>
                <a:cubicBezTo>
                  <a:pt x="63793" y="4488508"/>
                  <a:pt x="0" y="4424716"/>
                  <a:pt x="0" y="4346023"/>
                </a:cubicBezTo>
                <a:lnTo>
                  <a:pt x="0" y="142485"/>
                </a:lnTo>
                <a:cubicBezTo>
                  <a:pt x="0" y="63845"/>
                  <a:pt x="63845" y="0"/>
                  <a:pt x="14248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92418" y="1914741"/>
            <a:ext cx="569969" cy="569969"/>
          </a:xfrm>
          <a:custGeom>
            <a:avLst/>
            <a:gdLst/>
            <a:ahLst/>
            <a:cxnLst/>
            <a:rect l="l" t="t" r="r" b="b"/>
            <a:pathLst>
              <a:path w="569969" h="569969">
                <a:moveTo>
                  <a:pt x="142492" y="0"/>
                </a:moveTo>
                <a:lnTo>
                  <a:pt x="427477" y="0"/>
                </a:lnTo>
                <a:cubicBezTo>
                  <a:pt x="506121" y="0"/>
                  <a:pt x="569969" y="63849"/>
                  <a:pt x="569969" y="142492"/>
                </a:cubicBezTo>
                <a:lnTo>
                  <a:pt x="569969" y="427477"/>
                </a:lnTo>
                <a:cubicBezTo>
                  <a:pt x="569969" y="506121"/>
                  <a:pt x="506121" y="569969"/>
                  <a:pt x="427477" y="569969"/>
                </a:cubicBezTo>
                <a:lnTo>
                  <a:pt x="142492" y="569969"/>
                </a:lnTo>
                <a:cubicBezTo>
                  <a:pt x="63849" y="569969"/>
                  <a:pt x="0" y="506121"/>
                  <a:pt x="0" y="427477"/>
                </a:cubicBezTo>
                <a:lnTo>
                  <a:pt x="0" y="142492"/>
                </a:lnTo>
                <a:cubicBezTo>
                  <a:pt x="0" y="63849"/>
                  <a:pt x="63849" y="0"/>
                  <a:pt x="142492" y="0"/>
                </a:cubicBezTo>
                <a:close/>
              </a:path>
            </a:pathLst>
          </a:custGeom>
          <a:solidFill>
            <a:srgbClr val="86868B"/>
          </a:solidFill>
        </p:spPr>
      </p:sp>
      <p:sp>
        <p:nvSpPr>
          <p:cNvPr id="38" name="Text 36"/>
          <p:cNvSpPr/>
          <p:nvPr/>
        </p:nvSpPr>
        <p:spPr>
          <a:xfrm>
            <a:off x="8615081" y="2039421"/>
            <a:ext cx="454194" cy="320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5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92418" y="2662825"/>
            <a:ext cx="3206077" cy="480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25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本体</a:t>
            </a:r>
            <a:r>
              <a:rPr lang="en-US" sz="25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工作台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92418" y="3250606"/>
            <a:ext cx="3134831" cy="4987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让人和 AI 真正在一个界面里把能力跑起来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18022" y="4016503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2" name="Text 40"/>
          <p:cNvSpPr/>
          <p:nvPr/>
        </p:nvSpPr>
        <p:spPr>
          <a:xfrm>
            <a:off x="8755138" y="3963068"/>
            <a:ext cx="1068692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人在哪里看问题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18022" y="4354922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4" name="Text 42"/>
          <p:cNvSpPr/>
          <p:nvPr/>
        </p:nvSpPr>
        <p:spPr>
          <a:xfrm>
            <a:off x="8755138" y="4301487"/>
            <a:ext cx="1638662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人在哪里修正规则和策略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18022" y="4693341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6" name="Text 44"/>
          <p:cNvSpPr/>
          <p:nvPr/>
        </p:nvSpPr>
        <p:spPr>
          <a:xfrm>
            <a:off x="8755138" y="4639907"/>
            <a:ext cx="1923646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建议如何变成待办与执行动作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18022" y="5031760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8" name="Text 46"/>
          <p:cNvSpPr/>
          <p:nvPr/>
        </p:nvSpPr>
        <p:spPr>
          <a:xfrm>
            <a:off x="8755138" y="4978326"/>
            <a:ext cx="1353677" cy="231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结果如何复盘并沉淀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92418" y="5428067"/>
            <a:ext cx="3045774" cy="8906"/>
          </a:xfrm>
          <a:custGeom>
            <a:avLst/>
            <a:gdLst/>
            <a:ahLst/>
            <a:cxnLst/>
            <a:rect l="l" t="t" r="r" b="b"/>
            <a:pathLst>
              <a:path w="3045774" h="8906">
                <a:moveTo>
                  <a:pt x="0" y="0"/>
                </a:moveTo>
                <a:lnTo>
                  <a:pt x="3045774" y="0"/>
                </a:lnTo>
                <a:lnTo>
                  <a:pt x="3045774" y="8906"/>
                </a:lnTo>
                <a:lnTo>
                  <a:pt x="0" y="8906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50" name="Shape 48"/>
          <p:cNvSpPr/>
          <p:nvPr/>
        </p:nvSpPr>
        <p:spPr>
          <a:xfrm>
            <a:off x="8510229" y="5655164"/>
            <a:ext cx="124681" cy="124681"/>
          </a:xfrm>
          <a:custGeom>
            <a:avLst/>
            <a:gdLst/>
            <a:ahLst/>
            <a:cxnLst/>
            <a:rect l="l" t="t" r="r" b="b"/>
            <a:pathLst>
              <a:path w="124681" h="124681">
                <a:moveTo>
                  <a:pt x="122392" y="67844"/>
                </a:moveTo>
                <a:cubicBezTo>
                  <a:pt x="125436" y="64800"/>
                  <a:pt x="125436" y="59857"/>
                  <a:pt x="122392" y="56813"/>
                </a:cubicBezTo>
                <a:lnTo>
                  <a:pt x="83429" y="17850"/>
                </a:lnTo>
                <a:cubicBezTo>
                  <a:pt x="80385" y="14806"/>
                  <a:pt x="75442" y="14806"/>
                  <a:pt x="72398" y="17850"/>
                </a:cubicBezTo>
                <a:cubicBezTo>
                  <a:pt x="69354" y="20894"/>
                  <a:pt x="69354" y="25837"/>
                  <a:pt x="72398" y="28881"/>
                </a:cubicBezTo>
                <a:lnTo>
                  <a:pt x="98064" y="54548"/>
                </a:lnTo>
                <a:lnTo>
                  <a:pt x="7793" y="54548"/>
                </a:lnTo>
                <a:cubicBezTo>
                  <a:pt x="3482" y="54548"/>
                  <a:pt x="0" y="58030"/>
                  <a:pt x="0" y="62340"/>
                </a:cubicBezTo>
                <a:cubicBezTo>
                  <a:pt x="0" y="66651"/>
                  <a:pt x="3482" y="70133"/>
                  <a:pt x="7793" y="70133"/>
                </a:cubicBezTo>
                <a:lnTo>
                  <a:pt x="98064" y="70133"/>
                </a:lnTo>
                <a:lnTo>
                  <a:pt x="72398" y="95800"/>
                </a:lnTo>
                <a:cubicBezTo>
                  <a:pt x="69354" y="98844"/>
                  <a:pt x="69354" y="103787"/>
                  <a:pt x="72398" y="106831"/>
                </a:cubicBezTo>
                <a:cubicBezTo>
                  <a:pt x="75442" y="109875"/>
                  <a:pt x="80385" y="109875"/>
                  <a:pt x="83429" y="106831"/>
                </a:cubicBezTo>
                <a:lnTo>
                  <a:pt x="122392" y="67868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51" name="Text 49"/>
          <p:cNvSpPr/>
          <p:nvPr/>
        </p:nvSpPr>
        <p:spPr>
          <a:xfrm>
            <a:off x="8719515" y="5610636"/>
            <a:ext cx="1496169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形成企业统一操作入口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452329" y="6438872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0"/>
                </a:moveTo>
                <a:lnTo>
                  <a:pt x="71246" y="0"/>
                </a:lnTo>
                <a:cubicBezTo>
                  <a:pt x="110568" y="0"/>
                  <a:pt x="142492" y="31924"/>
                  <a:pt x="142492" y="71246"/>
                </a:cubicBezTo>
                <a:lnTo>
                  <a:pt x="142492" y="71246"/>
                </a:lnTo>
                <a:cubicBezTo>
                  <a:pt x="142492" y="110568"/>
                  <a:pt x="110568" y="142492"/>
                  <a:pt x="71246" y="142492"/>
                </a:cubicBezTo>
                <a:lnTo>
                  <a:pt x="71246" y="142492"/>
                </a:lnTo>
                <a:cubicBezTo>
                  <a:pt x="31924" y="142492"/>
                  <a:pt x="0" y="110568"/>
                  <a:pt x="0" y="71246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1D1D1D"/>
          </a:solidFill>
        </p:spPr>
      </p:sp>
      <p:sp>
        <p:nvSpPr>
          <p:cNvPr id="53" name="Text 51"/>
          <p:cNvSpPr/>
          <p:nvPr/>
        </p:nvSpPr>
        <p:spPr>
          <a:xfrm>
            <a:off x="4701690" y="6403249"/>
            <a:ext cx="498723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定义层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365170" y="6429966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157361" y="87228"/>
                </a:moveTo>
                <a:cubicBezTo>
                  <a:pt x="161274" y="83314"/>
                  <a:pt x="161274" y="76958"/>
                  <a:pt x="157361" y="73045"/>
                </a:cubicBezTo>
                <a:lnTo>
                  <a:pt x="107266" y="22950"/>
                </a:lnTo>
                <a:cubicBezTo>
                  <a:pt x="103352" y="19036"/>
                  <a:pt x="96996" y="19036"/>
                  <a:pt x="93083" y="22950"/>
                </a:cubicBezTo>
                <a:cubicBezTo>
                  <a:pt x="89169" y="26863"/>
                  <a:pt x="89169" y="33219"/>
                  <a:pt x="93083" y="37133"/>
                </a:cubicBezTo>
                <a:lnTo>
                  <a:pt x="126083" y="70133"/>
                </a:lnTo>
                <a:lnTo>
                  <a:pt x="10019" y="70133"/>
                </a:lnTo>
                <a:cubicBezTo>
                  <a:pt x="4477" y="70133"/>
                  <a:pt x="0" y="74610"/>
                  <a:pt x="0" y="80152"/>
                </a:cubicBezTo>
                <a:cubicBezTo>
                  <a:pt x="0" y="85694"/>
                  <a:pt x="4477" y="90171"/>
                  <a:pt x="10019" y="90171"/>
                </a:cubicBezTo>
                <a:lnTo>
                  <a:pt x="126083" y="90171"/>
                </a:lnTo>
                <a:lnTo>
                  <a:pt x="93083" y="123171"/>
                </a:lnTo>
                <a:cubicBezTo>
                  <a:pt x="89169" y="127085"/>
                  <a:pt x="89169" y="133440"/>
                  <a:pt x="93083" y="137354"/>
                </a:cubicBezTo>
                <a:cubicBezTo>
                  <a:pt x="96996" y="141268"/>
                  <a:pt x="103352" y="141268"/>
                  <a:pt x="107266" y="137354"/>
                </a:cubicBezTo>
                <a:lnTo>
                  <a:pt x="157361" y="87259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55" name="Shape 53"/>
          <p:cNvSpPr/>
          <p:nvPr/>
        </p:nvSpPr>
        <p:spPr>
          <a:xfrm>
            <a:off x="5757024" y="6438872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0"/>
                </a:moveTo>
                <a:lnTo>
                  <a:pt x="71246" y="0"/>
                </a:lnTo>
                <a:cubicBezTo>
                  <a:pt x="110568" y="0"/>
                  <a:pt x="142492" y="31924"/>
                  <a:pt x="142492" y="71246"/>
                </a:cubicBezTo>
                <a:lnTo>
                  <a:pt x="142492" y="71246"/>
                </a:lnTo>
                <a:cubicBezTo>
                  <a:pt x="142492" y="110568"/>
                  <a:pt x="110568" y="142492"/>
                  <a:pt x="71246" y="142492"/>
                </a:cubicBezTo>
                <a:lnTo>
                  <a:pt x="71246" y="142492"/>
                </a:lnTo>
                <a:cubicBezTo>
                  <a:pt x="31924" y="142492"/>
                  <a:pt x="0" y="110568"/>
                  <a:pt x="0" y="71246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56" name="Text 54"/>
          <p:cNvSpPr/>
          <p:nvPr/>
        </p:nvSpPr>
        <p:spPr>
          <a:xfrm>
            <a:off x="6006386" y="6403249"/>
            <a:ext cx="498723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669866" y="6429966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157361" y="87228"/>
                </a:moveTo>
                <a:cubicBezTo>
                  <a:pt x="161274" y="83314"/>
                  <a:pt x="161274" y="76958"/>
                  <a:pt x="157361" y="73045"/>
                </a:cubicBezTo>
                <a:lnTo>
                  <a:pt x="107266" y="22950"/>
                </a:lnTo>
                <a:cubicBezTo>
                  <a:pt x="103352" y="19036"/>
                  <a:pt x="96996" y="19036"/>
                  <a:pt x="93083" y="22950"/>
                </a:cubicBezTo>
                <a:cubicBezTo>
                  <a:pt x="89169" y="26863"/>
                  <a:pt x="89169" y="33219"/>
                  <a:pt x="93083" y="37133"/>
                </a:cubicBezTo>
                <a:lnTo>
                  <a:pt x="126083" y="70133"/>
                </a:lnTo>
                <a:lnTo>
                  <a:pt x="10019" y="70133"/>
                </a:lnTo>
                <a:cubicBezTo>
                  <a:pt x="4477" y="70133"/>
                  <a:pt x="0" y="74610"/>
                  <a:pt x="0" y="80152"/>
                </a:cubicBezTo>
                <a:cubicBezTo>
                  <a:pt x="0" y="85694"/>
                  <a:pt x="4477" y="90171"/>
                  <a:pt x="10019" y="90171"/>
                </a:cubicBezTo>
                <a:lnTo>
                  <a:pt x="126083" y="90171"/>
                </a:lnTo>
                <a:lnTo>
                  <a:pt x="93083" y="123171"/>
                </a:lnTo>
                <a:cubicBezTo>
                  <a:pt x="89169" y="127085"/>
                  <a:pt x="89169" y="133440"/>
                  <a:pt x="93083" y="137354"/>
                </a:cubicBezTo>
                <a:cubicBezTo>
                  <a:pt x="96996" y="141268"/>
                  <a:pt x="103352" y="141268"/>
                  <a:pt x="107266" y="137354"/>
                </a:cubicBezTo>
                <a:lnTo>
                  <a:pt x="157361" y="87259"/>
                </a:lnTo>
                <a:close/>
              </a:path>
            </a:pathLst>
          </a:custGeom>
          <a:solidFill>
            <a:srgbClr val="86868B"/>
          </a:solidFill>
        </p:spPr>
      </p:sp>
      <p:sp>
        <p:nvSpPr>
          <p:cNvPr id="58" name="Shape 56"/>
          <p:cNvSpPr/>
          <p:nvPr/>
        </p:nvSpPr>
        <p:spPr>
          <a:xfrm>
            <a:off x="7061720" y="6438872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0"/>
                </a:moveTo>
                <a:lnTo>
                  <a:pt x="71246" y="0"/>
                </a:lnTo>
                <a:cubicBezTo>
                  <a:pt x="110568" y="0"/>
                  <a:pt x="142492" y="31924"/>
                  <a:pt x="142492" y="71246"/>
                </a:cubicBezTo>
                <a:lnTo>
                  <a:pt x="142492" y="71246"/>
                </a:lnTo>
                <a:cubicBezTo>
                  <a:pt x="142492" y="110568"/>
                  <a:pt x="110568" y="142492"/>
                  <a:pt x="71246" y="142492"/>
                </a:cubicBezTo>
                <a:lnTo>
                  <a:pt x="71246" y="142492"/>
                </a:lnTo>
                <a:cubicBezTo>
                  <a:pt x="31924" y="142492"/>
                  <a:pt x="0" y="110568"/>
                  <a:pt x="0" y="71246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86868B"/>
          </a:solidFill>
        </p:spPr>
      </p:sp>
      <p:sp>
        <p:nvSpPr>
          <p:cNvPr id="59" name="Text 57"/>
          <p:cNvSpPr/>
          <p:nvPr/>
        </p:nvSpPr>
        <p:spPr>
          <a:xfrm>
            <a:off x="7311081" y="6403249"/>
            <a:ext cx="498723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执行层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LAYER 01 · ONTOLOGY CONSTRUCTION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96700" cy="666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第一层：本体建设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581150"/>
            <a:ext cx="4438650" cy="2505075"/>
          </a:xfrm>
          <a:custGeom>
            <a:avLst/>
            <a:gdLst/>
            <a:ahLst/>
            <a:cxnLst/>
            <a:rect l="l" t="t" r="r" b="b"/>
            <a:pathLst>
              <a:path w="4438650" h="2505075">
                <a:moveTo>
                  <a:pt x="152409" y="0"/>
                </a:moveTo>
                <a:lnTo>
                  <a:pt x="4286241" y="0"/>
                </a:lnTo>
                <a:cubicBezTo>
                  <a:pt x="4370414" y="0"/>
                  <a:pt x="4438650" y="68236"/>
                  <a:pt x="4438650" y="152409"/>
                </a:cubicBezTo>
                <a:lnTo>
                  <a:pt x="4438650" y="2352666"/>
                </a:lnTo>
                <a:cubicBezTo>
                  <a:pt x="4438650" y="2436839"/>
                  <a:pt x="4370414" y="2505075"/>
                  <a:pt x="4286241" y="2505075"/>
                </a:cubicBezTo>
                <a:lnTo>
                  <a:pt x="152409" y="2505075"/>
                </a:lnTo>
                <a:cubicBezTo>
                  <a:pt x="68236" y="2505075"/>
                  <a:pt x="0" y="2436839"/>
                  <a:pt x="0" y="2352666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1D1D1D"/>
          </a:solidFill>
        </p:spPr>
      </p:sp>
      <p:sp>
        <p:nvSpPr>
          <p:cNvPr id="5" name="Text 3"/>
          <p:cNvSpPr/>
          <p:nvPr/>
        </p:nvSpPr>
        <p:spPr>
          <a:xfrm>
            <a:off x="685800" y="1885950"/>
            <a:ext cx="42100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00350"/>
            <a:ext cx="3962400" cy="733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先把企业经营世界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10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定义清楚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762375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8" name="Shape 6"/>
          <p:cNvSpPr/>
          <p:nvPr/>
        </p:nvSpPr>
        <p:spPr>
          <a:xfrm>
            <a:off x="385763" y="4319588"/>
            <a:ext cx="4429125" cy="2219325"/>
          </a:xfrm>
          <a:custGeom>
            <a:avLst/>
            <a:gdLst/>
            <a:ahLst/>
            <a:cxnLst/>
            <a:rect l="l" t="t" r="r" b="b"/>
            <a:pathLst>
              <a:path w="4429125" h="2219325">
                <a:moveTo>
                  <a:pt x="152401" y="0"/>
                </a:moveTo>
                <a:lnTo>
                  <a:pt x="4276724" y="0"/>
                </a:lnTo>
                <a:cubicBezTo>
                  <a:pt x="4360893" y="0"/>
                  <a:pt x="4429125" y="68232"/>
                  <a:pt x="4429125" y="152401"/>
                </a:cubicBezTo>
                <a:lnTo>
                  <a:pt x="4429125" y="2066924"/>
                </a:lnTo>
                <a:cubicBezTo>
                  <a:pt x="4429125" y="2151093"/>
                  <a:pt x="4360893" y="2219325"/>
                  <a:pt x="4276724" y="2219325"/>
                </a:cubicBezTo>
                <a:lnTo>
                  <a:pt x="152401" y="2219325"/>
                </a:lnTo>
                <a:cubicBezTo>
                  <a:pt x="68232" y="2219325"/>
                  <a:pt x="0" y="2151093"/>
                  <a:pt x="0" y="20669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125" y="455295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核心回答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4991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707157" y="5010150"/>
            <a:ext cx="123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2025" y="497205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企业里到底有哪些核心对象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5353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95920" y="537210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2025" y="533400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什么叫问题、目标、动作、证据、规则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125" y="571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94209" y="573405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2025" y="5695950"/>
            <a:ext cx="1752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这些对象之间是什么关系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125" y="6076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694283" y="609600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2025" y="6057900"/>
            <a:ext cx="1600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什么样的判断可以复用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49143" y="1585913"/>
            <a:ext cx="6753225" cy="2752725"/>
          </a:xfrm>
          <a:custGeom>
            <a:avLst/>
            <a:gdLst/>
            <a:ahLst/>
            <a:cxnLst/>
            <a:rect l="l" t="t" r="r" b="b"/>
            <a:pathLst>
              <a:path w="6753225" h="2752725">
                <a:moveTo>
                  <a:pt x="152391" y="0"/>
                </a:moveTo>
                <a:lnTo>
                  <a:pt x="6600834" y="0"/>
                </a:lnTo>
                <a:cubicBezTo>
                  <a:pt x="6684941" y="0"/>
                  <a:pt x="6753225" y="68284"/>
                  <a:pt x="6753225" y="152391"/>
                </a:cubicBezTo>
                <a:lnTo>
                  <a:pt x="6753225" y="2600334"/>
                </a:lnTo>
                <a:cubicBezTo>
                  <a:pt x="6753225" y="2684497"/>
                  <a:pt x="6684997" y="2752725"/>
                  <a:pt x="6600834" y="2752725"/>
                </a:cubicBezTo>
                <a:lnTo>
                  <a:pt x="152391" y="2752725"/>
                </a:lnTo>
                <a:cubicBezTo>
                  <a:pt x="68284" y="2752725"/>
                  <a:pt x="0" y="2684441"/>
                  <a:pt x="0" y="2600334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2505" y="1819275"/>
            <a:ext cx="6381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典型内容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82505" y="2276475"/>
            <a:ext cx="3067050" cy="838200"/>
          </a:xfrm>
          <a:custGeom>
            <a:avLst/>
            <a:gdLst/>
            <a:ahLst/>
            <a:cxnLst/>
            <a:rect l="l" t="t" r="r" b="b"/>
            <a:pathLst>
              <a:path w="3067050" h="838200">
                <a:moveTo>
                  <a:pt x="114297" y="0"/>
                </a:moveTo>
                <a:lnTo>
                  <a:pt x="2952753" y="0"/>
                </a:lnTo>
                <a:cubicBezTo>
                  <a:pt x="3015878" y="0"/>
                  <a:pt x="3067050" y="51172"/>
                  <a:pt x="3067050" y="114297"/>
                </a:cubicBezTo>
                <a:lnTo>
                  <a:pt x="3067050" y="723903"/>
                </a:lnTo>
                <a:cubicBezTo>
                  <a:pt x="3067050" y="787028"/>
                  <a:pt x="3015878" y="838200"/>
                  <a:pt x="29527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5" name="Shape 23"/>
          <p:cNvSpPr/>
          <p:nvPr/>
        </p:nvSpPr>
        <p:spPr>
          <a:xfrm>
            <a:off x="5453955" y="2466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6" name="Text 24"/>
          <p:cNvSpPr/>
          <p:nvPr/>
        </p:nvSpPr>
        <p:spPr>
          <a:xfrm>
            <a:off x="5701605" y="242887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核心对象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34905" y="2771775"/>
            <a:ext cx="2828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 / SKU / 店铺 / 渠道 / 活动 / 素材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3890" y="2276475"/>
            <a:ext cx="3067050" cy="838200"/>
          </a:xfrm>
          <a:custGeom>
            <a:avLst/>
            <a:gdLst/>
            <a:ahLst/>
            <a:cxnLst/>
            <a:rect l="l" t="t" r="r" b="b"/>
            <a:pathLst>
              <a:path w="3067050" h="838200">
                <a:moveTo>
                  <a:pt x="114297" y="0"/>
                </a:moveTo>
                <a:lnTo>
                  <a:pt x="2952753" y="0"/>
                </a:lnTo>
                <a:cubicBezTo>
                  <a:pt x="3015878" y="0"/>
                  <a:pt x="3067050" y="51172"/>
                  <a:pt x="3067050" y="114297"/>
                </a:cubicBezTo>
                <a:lnTo>
                  <a:pt x="3067050" y="723903"/>
                </a:lnTo>
                <a:cubicBezTo>
                  <a:pt x="3067050" y="787028"/>
                  <a:pt x="3015878" y="838200"/>
                  <a:pt x="29527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9" name="Shape 27"/>
          <p:cNvSpPr/>
          <p:nvPr/>
        </p:nvSpPr>
        <p:spPr>
          <a:xfrm>
            <a:off x="8665815" y="2466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0" name="Text 28"/>
          <p:cNvSpPr/>
          <p:nvPr/>
        </p:nvSpPr>
        <p:spPr>
          <a:xfrm>
            <a:off x="8922990" y="242887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问题定义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56290" y="2771775"/>
            <a:ext cx="2828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问题类型 / 状态定义 / 指标口径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82505" y="3267075"/>
            <a:ext cx="3067050" cy="838200"/>
          </a:xfrm>
          <a:custGeom>
            <a:avLst/>
            <a:gdLst/>
            <a:ahLst/>
            <a:cxnLst/>
            <a:rect l="l" t="t" r="r" b="b"/>
            <a:pathLst>
              <a:path w="3067050" h="838200">
                <a:moveTo>
                  <a:pt x="114297" y="0"/>
                </a:moveTo>
                <a:lnTo>
                  <a:pt x="2952753" y="0"/>
                </a:lnTo>
                <a:cubicBezTo>
                  <a:pt x="3015878" y="0"/>
                  <a:pt x="3067050" y="51172"/>
                  <a:pt x="3067050" y="114297"/>
                </a:cubicBezTo>
                <a:lnTo>
                  <a:pt x="3067050" y="723903"/>
                </a:lnTo>
                <a:cubicBezTo>
                  <a:pt x="3067050" y="787028"/>
                  <a:pt x="3015878" y="838200"/>
                  <a:pt x="29527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3" name="Shape 31"/>
          <p:cNvSpPr/>
          <p:nvPr/>
        </p:nvSpPr>
        <p:spPr>
          <a:xfrm>
            <a:off x="5453955" y="3457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4" name="Text 32"/>
          <p:cNvSpPr/>
          <p:nvPr/>
        </p:nvSpPr>
        <p:spPr>
          <a:xfrm>
            <a:off x="5701605" y="341947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知识卡片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34905" y="3762375"/>
            <a:ext cx="2828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策略卡 / 规则卡 / 案例卡 / SOP 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03890" y="3267075"/>
            <a:ext cx="3067050" cy="838200"/>
          </a:xfrm>
          <a:custGeom>
            <a:avLst/>
            <a:gdLst/>
            <a:ahLst/>
            <a:cxnLst/>
            <a:rect l="l" t="t" r="r" b="b"/>
            <a:pathLst>
              <a:path w="3067050" h="838200">
                <a:moveTo>
                  <a:pt x="114297" y="0"/>
                </a:moveTo>
                <a:lnTo>
                  <a:pt x="2952753" y="0"/>
                </a:lnTo>
                <a:cubicBezTo>
                  <a:pt x="3015878" y="0"/>
                  <a:pt x="3067050" y="51172"/>
                  <a:pt x="3067050" y="114297"/>
                </a:cubicBezTo>
                <a:lnTo>
                  <a:pt x="3067050" y="723903"/>
                </a:lnTo>
                <a:cubicBezTo>
                  <a:pt x="3067050" y="787028"/>
                  <a:pt x="3015878" y="838200"/>
                  <a:pt x="29527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7" name="Shape 35"/>
          <p:cNvSpPr/>
          <p:nvPr/>
        </p:nvSpPr>
        <p:spPr>
          <a:xfrm>
            <a:off x="8675340" y="3457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38" name="Text 36"/>
          <p:cNvSpPr/>
          <p:nvPr/>
        </p:nvSpPr>
        <p:spPr>
          <a:xfrm>
            <a:off x="8922990" y="341947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约束边界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56290" y="3762375"/>
            <a:ext cx="2828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Evidence / 约束 / 责任边界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44380" y="4572000"/>
            <a:ext cx="6762750" cy="1514475"/>
          </a:xfrm>
          <a:custGeom>
            <a:avLst/>
            <a:gdLst/>
            <a:ahLst/>
            <a:cxnLst/>
            <a:rect l="l" t="t" r="r" b="b"/>
            <a:pathLst>
              <a:path w="6762750" h="1514475">
                <a:moveTo>
                  <a:pt x="152402" y="0"/>
                </a:moveTo>
                <a:lnTo>
                  <a:pt x="6610348" y="0"/>
                </a:lnTo>
                <a:cubicBezTo>
                  <a:pt x="6694517" y="0"/>
                  <a:pt x="6762750" y="68233"/>
                  <a:pt x="6762750" y="152402"/>
                </a:cubicBezTo>
                <a:lnTo>
                  <a:pt x="6762750" y="1362073"/>
                </a:lnTo>
                <a:cubicBezTo>
                  <a:pt x="6762750" y="1446242"/>
                  <a:pt x="6694517" y="1514475"/>
                  <a:pt x="6610348" y="1514475"/>
                </a:cubicBezTo>
                <a:lnTo>
                  <a:pt x="152402" y="1514475"/>
                </a:lnTo>
                <a:cubicBezTo>
                  <a:pt x="68233" y="1514475"/>
                  <a:pt x="0" y="1446242"/>
                  <a:pt x="0" y="1362073"/>
                </a:cubicBezTo>
                <a:lnTo>
                  <a:pt x="0" y="152402"/>
                </a:lnTo>
                <a:cubicBezTo>
                  <a:pt x="0" y="68233"/>
                  <a:pt x="68233" y="0"/>
                  <a:pt x="152402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1" name="Shape 39"/>
          <p:cNvSpPr/>
          <p:nvPr/>
        </p:nvSpPr>
        <p:spPr>
          <a:xfrm>
            <a:off x="5272980" y="4800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AFAFA">
              <a:alpha val="2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5411093" y="4953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AFAFA"/>
          </a:solidFill>
        </p:spPr>
      </p:sp>
      <p:sp>
        <p:nvSpPr>
          <p:cNvPr id="43" name="Text 41"/>
          <p:cNvSpPr/>
          <p:nvPr/>
        </p:nvSpPr>
        <p:spPr>
          <a:xfrm>
            <a:off x="5996880" y="4800600"/>
            <a:ext cx="4076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996880" y="5219700"/>
            <a:ext cx="40576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形成企业统一经营语言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996880" y="5605463"/>
            <a:ext cx="4038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AFAFA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让所有人用同一套语义讨论问题，消除信息孤岛和沟通障碍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120" y="325120"/>
            <a:ext cx="11598656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b="1" kern="0" spc="179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LAYER 02 · ONTOLOGY BRAIN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5120" y="585216"/>
            <a:ext cx="11769344" cy="56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8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第二层：本体大脑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120" y="1349248"/>
            <a:ext cx="5673344" cy="2137664"/>
          </a:xfrm>
          <a:custGeom>
            <a:avLst/>
            <a:gdLst/>
            <a:ahLst/>
            <a:cxnLst/>
            <a:rect l="l" t="t" r="r" b="b"/>
            <a:pathLst>
              <a:path w="5673344" h="2137664">
                <a:moveTo>
                  <a:pt x="130055" y="0"/>
                </a:moveTo>
                <a:lnTo>
                  <a:pt x="5543289" y="0"/>
                </a:lnTo>
                <a:cubicBezTo>
                  <a:pt x="5615116" y="0"/>
                  <a:pt x="5673344" y="58228"/>
                  <a:pt x="5673344" y="130055"/>
                </a:cubicBezTo>
                <a:lnTo>
                  <a:pt x="5673344" y="2007609"/>
                </a:lnTo>
                <a:cubicBezTo>
                  <a:pt x="5673344" y="2079436"/>
                  <a:pt x="5615116" y="2137664"/>
                  <a:pt x="5543289" y="2137664"/>
                </a:cubicBezTo>
                <a:lnTo>
                  <a:pt x="130055" y="2137664"/>
                </a:lnTo>
                <a:cubicBezTo>
                  <a:pt x="58228" y="2137664"/>
                  <a:pt x="0" y="2079436"/>
                  <a:pt x="0" y="2007609"/>
                </a:cubicBezTo>
                <a:lnTo>
                  <a:pt x="0" y="130055"/>
                </a:lnTo>
                <a:cubicBezTo>
                  <a:pt x="0" y="58228"/>
                  <a:pt x="58228" y="0"/>
                  <a:pt x="130055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5" name="Text 3"/>
          <p:cNvSpPr/>
          <p:nvPr/>
        </p:nvSpPr>
        <p:spPr>
          <a:xfrm>
            <a:off x="585216" y="1609344"/>
            <a:ext cx="5478272" cy="65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12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" y="2389632"/>
            <a:ext cx="5266944" cy="625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用统一语义理解问题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并编译成决策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216" y="3210560"/>
            <a:ext cx="520192" cy="16256"/>
          </a:xfrm>
          <a:custGeom>
            <a:avLst/>
            <a:gdLst/>
            <a:ahLst/>
            <a:cxnLst/>
            <a:rect l="l" t="t" r="r" b="b"/>
            <a:pathLst>
              <a:path w="520192" h="16256">
                <a:moveTo>
                  <a:pt x="0" y="0"/>
                </a:moveTo>
                <a:lnTo>
                  <a:pt x="520192" y="0"/>
                </a:lnTo>
                <a:lnTo>
                  <a:pt x="520192" y="16256"/>
                </a:lnTo>
                <a:lnTo>
                  <a:pt x="0" y="16256"/>
                </a:lnTo>
                <a:lnTo>
                  <a:pt x="0" y="0"/>
                </a:lnTo>
                <a:close/>
              </a:path>
            </a:pathLst>
          </a:custGeom>
          <a:solidFill>
            <a:srgbClr val="FAFAFA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329184" y="3653536"/>
            <a:ext cx="5665216" cy="3202432"/>
          </a:xfrm>
          <a:custGeom>
            <a:avLst/>
            <a:gdLst/>
            <a:ahLst/>
            <a:cxnLst/>
            <a:rect l="l" t="t" r="r" b="b"/>
            <a:pathLst>
              <a:path w="5665216" h="3202432">
                <a:moveTo>
                  <a:pt x="130051" y="0"/>
                </a:moveTo>
                <a:lnTo>
                  <a:pt x="5535165" y="0"/>
                </a:lnTo>
                <a:cubicBezTo>
                  <a:pt x="5606990" y="0"/>
                  <a:pt x="5665216" y="58226"/>
                  <a:pt x="5665216" y="130051"/>
                </a:cubicBezTo>
                <a:lnTo>
                  <a:pt x="5665216" y="3072381"/>
                </a:lnTo>
                <a:cubicBezTo>
                  <a:pt x="5665216" y="3144206"/>
                  <a:pt x="5606990" y="3202432"/>
                  <a:pt x="5535165" y="3202432"/>
                </a:cubicBezTo>
                <a:lnTo>
                  <a:pt x="130051" y="3202432"/>
                </a:lnTo>
                <a:cubicBezTo>
                  <a:pt x="58226" y="3202432"/>
                  <a:pt x="0" y="3144206"/>
                  <a:pt x="0" y="3072381"/>
                </a:cubicBezTo>
                <a:lnTo>
                  <a:pt x="0" y="130051"/>
                </a:lnTo>
                <a:cubicBezTo>
                  <a:pt x="0" y="58274"/>
                  <a:pt x="58274" y="0"/>
                  <a:pt x="13005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8320" y="3852672"/>
            <a:ext cx="5348224" cy="227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核心回答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8320" y="4307840"/>
            <a:ext cx="65024" cy="65024"/>
          </a:xfrm>
          <a:custGeom>
            <a:avLst/>
            <a:gdLst/>
            <a:ahLst/>
            <a:cxnLst/>
            <a:rect l="l" t="t" r="r" b="b"/>
            <a:pathLst>
              <a:path w="65024" h="65024">
                <a:moveTo>
                  <a:pt x="32512" y="0"/>
                </a:moveTo>
                <a:lnTo>
                  <a:pt x="32512" y="0"/>
                </a:lnTo>
                <a:cubicBezTo>
                  <a:pt x="50456" y="0"/>
                  <a:pt x="65024" y="14568"/>
                  <a:pt x="65024" y="32512"/>
                </a:cubicBezTo>
                <a:lnTo>
                  <a:pt x="65024" y="32512"/>
                </a:lnTo>
                <a:cubicBezTo>
                  <a:pt x="65024" y="50456"/>
                  <a:pt x="50456" y="65024"/>
                  <a:pt x="32512" y="65024"/>
                </a:cubicBezTo>
                <a:lnTo>
                  <a:pt x="32512" y="65024"/>
                </a:lnTo>
                <a:cubicBezTo>
                  <a:pt x="14568" y="65024"/>
                  <a:pt x="0" y="50456"/>
                  <a:pt x="0" y="32512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1" name="Text 9"/>
          <p:cNvSpPr/>
          <p:nvPr/>
        </p:nvSpPr>
        <p:spPr>
          <a:xfrm>
            <a:off x="690880" y="4242816"/>
            <a:ext cx="2405888" cy="211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如何把数据、知识、目标、约束整合起来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8320" y="4649216"/>
            <a:ext cx="65024" cy="65024"/>
          </a:xfrm>
          <a:custGeom>
            <a:avLst/>
            <a:gdLst/>
            <a:ahLst/>
            <a:cxnLst/>
            <a:rect l="l" t="t" r="r" b="b"/>
            <a:pathLst>
              <a:path w="65024" h="65024">
                <a:moveTo>
                  <a:pt x="32512" y="0"/>
                </a:moveTo>
                <a:lnTo>
                  <a:pt x="32512" y="0"/>
                </a:lnTo>
                <a:cubicBezTo>
                  <a:pt x="50456" y="0"/>
                  <a:pt x="65024" y="14568"/>
                  <a:pt x="65024" y="32512"/>
                </a:cubicBezTo>
                <a:lnTo>
                  <a:pt x="65024" y="32512"/>
                </a:lnTo>
                <a:cubicBezTo>
                  <a:pt x="65024" y="50456"/>
                  <a:pt x="50456" y="65024"/>
                  <a:pt x="32512" y="65024"/>
                </a:cubicBezTo>
                <a:lnTo>
                  <a:pt x="32512" y="65024"/>
                </a:lnTo>
                <a:cubicBezTo>
                  <a:pt x="14568" y="65024"/>
                  <a:pt x="0" y="50456"/>
                  <a:pt x="0" y="32512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3" name="Text 11"/>
          <p:cNvSpPr/>
          <p:nvPr/>
        </p:nvSpPr>
        <p:spPr>
          <a:xfrm>
            <a:off x="690880" y="4584192"/>
            <a:ext cx="1625600" cy="211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如何判断问题类型与优先级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8320" y="4990592"/>
            <a:ext cx="65024" cy="65024"/>
          </a:xfrm>
          <a:custGeom>
            <a:avLst/>
            <a:gdLst/>
            <a:ahLst/>
            <a:cxnLst/>
            <a:rect l="l" t="t" r="r" b="b"/>
            <a:pathLst>
              <a:path w="65024" h="65024">
                <a:moveTo>
                  <a:pt x="32512" y="0"/>
                </a:moveTo>
                <a:lnTo>
                  <a:pt x="32512" y="0"/>
                </a:lnTo>
                <a:cubicBezTo>
                  <a:pt x="50456" y="0"/>
                  <a:pt x="65024" y="14568"/>
                  <a:pt x="65024" y="32512"/>
                </a:cubicBezTo>
                <a:lnTo>
                  <a:pt x="65024" y="32512"/>
                </a:lnTo>
                <a:cubicBezTo>
                  <a:pt x="65024" y="50456"/>
                  <a:pt x="50456" y="65024"/>
                  <a:pt x="32512" y="65024"/>
                </a:cubicBezTo>
                <a:lnTo>
                  <a:pt x="32512" y="65024"/>
                </a:lnTo>
                <a:cubicBezTo>
                  <a:pt x="14568" y="65024"/>
                  <a:pt x="0" y="50456"/>
                  <a:pt x="0" y="32512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5" name="Text 13"/>
          <p:cNvSpPr/>
          <p:nvPr/>
        </p:nvSpPr>
        <p:spPr>
          <a:xfrm>
            <a:off x="690880" y="4925568"/>
            <a:ext cx="1755648" cy="211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如何生成建议动作和执行方案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8320" y="5331968"/>
            <a:ext cx="65024" cy="65024"/>
          </a:xfrm>
          <a:custGeom>
            <a:avLst/>
            <a:gdLst/>
            <a:ahLst/>
            <a:cxnLst/>
            <a:rect l="l" t="t" r="r" b="b"/>
            <a:pathLst>
              <a:path w="65024" h="65024">
                <a:moveTo>
                  <a:pt x="32512" y="0"/>
                </a:moveTo>
                <a:lnTo>
                  <a:pt x="32512" y="0"/>
                </a:lnTo>
                <a:cubicBezTo>
                  <a:pt x="50456" y="0"/>
                  <a:pt x="65024" y="14568"/>
                  <a:pt x="65024" y="32512"/>
                </a:cubicBezTo>
                <a:lnTo>
                  <a:pt x="65024" y="32512"/>
                </a:lnTo>
                <a:cubicBezTo>
                  <a:pt x="65024" y="50456"/>
                  <a:pt x="50456" y="65024"/>
                  <a:pt x="32512" y="65024"/>
                </a:cubicBezTo>
                <a:lnTo>
                  <a:pt x="32512" y="65024"/>
                </a:lnTo>
                <a:cubicBezTo>
                  <a:pt x="14568" y="65024"/>
                  <a:pt x="0" y="50456"/>
                  <a:pt x="0" y="32512"/>
                </a:cubicBezTo>
                <a:lnTo>
                  <a:pt x="0" y="32512"/>
                </a:lnTo>
                <a:cubicBezTo>
                  <a:pt x="0" y="14568"/>
                  <a:pt x="14568" y="0"/>
                  <a:pt x="32512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7" name="Text 15"/>
          <p:cNvSpPr/>
          <p:nvPr/>
        </p:nvSpPr>
        <p:spPr>
          <a:xfrm>
            <a:off x="690880" y="5266944"/>
            <a:ext cx="2145792" cy="211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如何把结果沉淀成可持续优化的资产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9378" y="1353312"/>
            <a:ext cx="5665216" cy="4429760"/>
          </a:xfrm>
          <a:custGeom>
            <a:avLst/>
            <a:gdLst/>
            <a:ahLst/>
            <a:cxnLst/>
            <a:rect l="l" t="t" r="r" b="b"/>
            <a:pathLst>
              <a:path w="5665216" h="4429760">
                <a:moveTo>
                  <a:pt x="130058" y="0"/>
                </a:moveTo>
                <a:lnTo>
                  <a:pt x="5535158" y="0"/>
                </a:lnTo>
                <a:cubicBezTo>
                  <a:pt x="5606987" y="0"/>
                  <a:pt x="5665216" y="58229"/>
                  <a:pt x="5665216" y="130058"/>
                </a:cubicBezTo>
                <a:lnTo>
                  <a:pt x="5665216" y="4299702"/>
                </a:lnTo>
                <a:cubicBezTo>
                  <a:pt x="5665216" y="4371531"/>
                  <a:pt x="5606987" y="4429760"/>
                  <a:pt x="5535158" y="4429760"/>
                </a:cubicBezTo>
                <a:lnTo>
                  <a:pt x="130058" y="4429760"/>
                </a:lnTo>
                <a:cubicBezTo>
                  <a:pt x="58229" y="4429760"/>
                  <a:pt x="0" y="4371531"/>
                  <a:pt x="0" y="4299702"/>
                </a:cubicBezTo>
                <a:lnTo>
                  <a:pt x="0" y="130058"/>
                </a:lnTo>
                <a:cubicBezTo>
                  <a:pt x="0" y="58229"/>
                  <a:pt x="58229" y="0"/>
                  <a:pt x="13005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8514" y="1552448"/>
            <a:ext cx="5348224" cy="227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98514" y="1942592"/>
            <a:ext cx="5266944" cy="650240"/>
          </a:xfrm>
          <a:custGeom>
            <a:avLst/>
            <a:gdLst/>
            <a:ahLst/>
            <a:cxnLst/>
            <a:rect l="l" t="t" r="r" b="b"/>
            <a:pathLst>
              <a:path w="5266944" h="650240">
                <a:moveTo>
                  <a:pt x="97536" y="0"/>
                </a:moveTo>
                <a:lnTo>
                  <a:pt x="5169408" y="0"/>
                </a:lnTo>
                <a:cubicBezTo>
                  <a:pt x="5223276" y="0"/>
                  <a:pt x="5266944" y="43668"/>
                  <a:pt x="5266944" y="97536"/>
                </a:cubicBezTo>
                <a:lnTo>
                  <a:pt x="5266944" y="552704"/>
                </a:lnTo>
                <a:cubicBezTo>
                  <a:pt x="5266944" y="606572"/>
                  <a:pt x="5223276" y="650240"/>
                  <a:pt x="5169408" y="650240"/>
                </a:cubicBezTo>
                <a:lnTo>
                  <a:pt x="97536" y="650240"/>
                </a:lnTo>
                <a:cubicBezTo>
                  <a:pt x="43704" y="650240"/>
                  <a:pt x="0" y="606536"/>
                  <a:pt x="0" y="552704"/>
                </a:cubicBezTo>
                <a:lnTo>
                  <a:pt x="0" y="97536"/>
                </a:lnTo>
                <a:cubicBezTo>
                  <a:pt x="0" y="43704"/>
                  <a:pt x="43704" y="0"/>
                  <a:pt x="97536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1" name="Shape 19"/>
          <p:cNvSpPr/>
          <p:nvPr/>
        </p:nvSpPr>
        <p:spPr>
          <a:xfrm>
            <a:off x="6528562" y="2072640"/>
            <a:ext cx="390144" cy="390144"/>
          </a:xfrm>
          <a:custGeom>
            <a:avLst/>
            <a:gdLst/>
            <a:ahLst/>
            <a:cxnLst/>
            <a:rect l="l" t="t" r="r" b="b"/>
            <a:pathLst>
              <a:path w="390144" h="390144">
                <a:moveTo>
                  <a:pt x="97536" y="0"/>
                </a:moveTo>
                <a:lnTo>
                  <a:pt x="292608" y="0"/>
                </a:lnTo>
                <a:cubicBezTo>
                  <a:pt x="346440" y="0"/>
                  <a:pt x="390144" y="43704"/>
                  <a:pt x="390144" y="97536"/>
                </a:cubicBezTo>
                <a:lnTo>
                  <a:pt x="390144" y="292608"/>
                </a:lnTo>
                <a:cubicBezTo>
                  <a:pt x="390144" y="346440"/>
                  <a:pt x="346440" y="390144"/>
                  <a:pt x="292608" y="390144"/>
                </a:cubicBezTo>
                <a:lnTo>
                  <a:pt x="97536" y="390144"/>
                </a:lnTo>
                <a:cubicBezTo>
                  <a:pt x="43704" y="390144"/>
                  <a:pt x="0" y="346440"/>
                  <a:pt x="0" y="292608"/>
                </a:cubicBezTo>
                <a:lnTo>
                  <a:pt x="0" y="97536"/>
                </a:lnTo>
                <a:cubicBezTo>
                  <a:pt x="0" y="43704"/>
                  <a:pt x="43704" y="0"/>
                  <a:pt x="97536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6652514" y="2186432"/>
            <a:ext cx="142240" cy="162560"/>
          </a:xfrm>
          <a:custGeom>
            <a:avLst/>
            <a:gdLst/>
            <a:ahLst/>
            <a:cxnLst/>
            <a:rect l="l" t="t" r="r" b="b"/>
            <a:pathLst>
              <a:path w="142240" h="162560">
                <a:moveTo>
                  <a:pt x="142240" y="65342"/>
                </a:moveTo>
                <a:cubicBezTo>
                  <a:pt x="137541" y="68453"/>
                  <a:pt x="132144" y="70961"/>
                  <a:pt x="126524" y="72962"/>
                </a:cubicBezTo>
                <a:cubicBezTo>
                  <a:pt x="111601" y="78296"/>
                  <a:pt x="92012" y="81280"/>
                  <a:pt x="71120" y="81280"/>
                </a:cubicBezTo>
                <a:cubicBezTo>
                  <a:pt x="50229" y="81280"/>
                  <a:pt x="30607" y="78264"/>
                  <a:pt x="15716" y="72962"/>
                </a:cubicBezTo>
                <a:cubicBezTo>
                  <a:pt x="10128" y="70961"/>
                  <a:pt x="4699" y="68453"/>
                  <a:pt x="0" y="65342"/>
                </a:cubicBezTo>
                <a:lnTo>
                  <a:pt x="0" y="91440"/>
                </a:lnTo>
                <a:cubicBezTo>
                  <a:pt x="0" y="105474"/>
                  <a:pt x="31845" y="116840"/>
                  <a:pt x="71120" y="116840"/>
                </a:cubicBezTo>
                <a:cubicBezTo>
                  <a:pt x="110395" y="116840"/>
                  <a:pt x="142240" y="105474"/>
                  <a:pt x="142240" y="91440"/>
                </a:cubicBezTo>
                <a:lnTo>
                  <a:pt x="142240" y="65342"/>
                </a:lnTo>
                <a:close/>
                <a:moveTo>
                  <a:pt x="142240" y="40640"/>
                </a:moveTo>
                <a:lnTo>
                  <a:pt x="142240" y="25400"/>
                </a:lnTo>
                <a:cubicBezTo>
                  <a:pt x="142240" y="11367"/>
                  <a:pt x="110395" y="0"/>
                  <a:pt x="71120" y="0"/>
                </a:cubicBezTo>
                <a:cubicBezTo>
                  <a:pt x="31845" y="0"/>
                  <a:pt x="0" y="11367"/>
                  <a:pt x="0" y="25400"/>
                </a:cubicBezTo>
                <a:lnTo>
                  <a:pt x="0" y="40640"/>
                </a:lnTo>
                <a:cubicBezTo>
                  <a:pt x="0" y="54674"/>
                  <a:pt x="31845" y="66040"/>
                  <a:pt x="71120" y="66040"/>
                </a:cubicBezTo>
                <a:cubicBezTo>
                  <a:pt x="110395" y="66040"/>
                  <a:pt x="142240" y="54674"/>
                  <a:pt x="142240" y="40640"/>
                </a:cubicBezTo>
                <a:close/>
                <a:moveTo>
                  <a:pt x="126524" y="123762"/>
                </a:moveTo>
                <a:cubicBezTo>
                  <a:pt x="111633" y="129064"/>
                  <a:pt x="92043" y="132080"/>
                  <a:pt x="71120" y="132080"/>
                </a:cubicBezTo>
                <a:cubicBezTo>
                  <a:pt x="50197" y="132080"/>
                  <a:pt x="30607" y="129064"/>
                  <a:pt x="15716" y="123762"/>
                </a:cubicBezTo>
                <a:cubicBezTo>
                  <a:pt x="10128" y="121761"/>
                  <a:pt x="4699" y="119253"/>
                  <a:pt x="0" y="116142"/>
                </a:cubicBezTo>
                <a:lnTo>
                  <a:pt x="0" y="137160"/>
                </a:lnTo>
                <a:cubicBezTo>
                  <a:pt x="0" y="151194"/>
                  <a:pt x="31845" y="162560"/>
                  <a:pt x="71120" y="162560"/>
                </a:cubicBezTo>
                <a:cubicBezTo>
                  <a:pt x="110395" y="162560"/>
                  <a:pt x="142240" y="151194"/>
                  <a:pt x="142240" y="137160"/>
                </a:cubicBezTo>
                <a:lnTo>
                  <a:pt x="142240" y="116142"/>
                </a:lnTo>
                <a:cubicBezTo>
                  <a:pt x="137541" y="119253"/>
                  <a:pt x="132144" y="121761"/>
                  <a:pt x="126524" y="123762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3" name="Text 21"/>
          <p:cNvSpPr/>
          <p:nvPr/>
        </p:nvSpPr>
        <p:spPr>
          <a:xfrm>
            <a:off x="7048754" y="2088896"/>
            <a:ext cx="1658112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数据接入与上下文编译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8754" y="2283968"/>
            <a:ext cx="1649984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整合多源数据，构建统一上下文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8514" y="2690368"/>
            <a:ext cx="5266944" cy="650240"/>
          </a:xfrm>
          <a:custGeom>
            <a:avLst/>
            <a:gdLst/>
            <a:ahLst/>
            <a:cxnLst/>
            <a:rect l="l" t="t" r="r" b="b"/>
            <a:pathLst>
              <a:path w="5266944" h="650240">
                <a:moveTo>
                  <a:pt x="97536" y="0"/>
                </a:moveTo>
                <a:lnTo>
                  <a:pt x="5169408" y="0"/>
                </a:lnTo>
                <a:cubicBezTo>
                  <a:pt x="5223276" y="0"/>
                  <a:pt x="5266944" y="43668"/>
                  <a:pt x="5266944" y="97536"/>
                </a:cubicBezTo>
                <a:lnTo>
                  <a:pt x="5266944" y="552704"/>
                </a:lnTo>
                <a:cubicBezTo>
                  <a:pt x="5266944" y="606572"/>
                  <a:pt x="5223276" y="650240"/>
                  <a:pt x="5169408" y="650240"/>
                </a:cubicBezTo>
                <a:lnTo>
                  <a:pt x="97536" y="650240"/>
                </a:lnTo>
                <a:cubicBezTo>
                  <a:pt x="43704" y="650240"/>
                  <a:pt x="0" y="606536"/>
                  <a:pt x="0" y="552704"/>
                </a:cubicBezTo>
                <a:lnTo>
                  <a:pt x="0" y="97536"/>
                </a:lnTo>
                <a:cubicBezTo>
                  <a:pt x="0" y="43704"/>
                  <a:pt x="43704" y="0"/>
                  <a:pt x="97536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6" name="Shape 24"/>
          <p:cNvSpPr/>
          <p:nvPr/>
        </p:nvSpPr>
        <p:spPr>
          <a:xfrm>
            <a:off x="6528562" y="2820416"/>
            <a:ext cx="390144" cy="390144"/>
          </a:xfrm>
          <a:custGeom>
            <a:avLst/>
            <a:gdLst/>
            <a:ahLst/>
            <a:cxnLst/>
            <a:rect l="l" t="t" r="r" b="b"/>
            <a:pathLst>
              <a:path w="390144" h="390144">
                <a:moveTo>
                  <a:pt x="97536" y="0"/>
                </a:moveTo>
                <a:lnTo>
                  <a:pt x="292608" y="0"/>
                </a:lnTo>
                <a:cubicBezTo>
                  <a:pt x="346440" y="0"/>
                  <a:pt x="390144" y="43704"/>
                  <a:pt x="390144" y="97536"/>
                </a:cubicBezTo>
                <a:lnTo>
                  <a:pt x="390144" y="292608"/>
                </a:lnTo>
                <a:cubicBezTo>
                  <a:pt x="390144" y="346440"/>
                  <a:pt x="346440" y="390144"/>
                  <a:pt x="292608" y="390144"/>
                </a:cubicBezTo>
                <a:lnTo>
                  <a:pt x="97536" y="390144"/>
                </a:lnTo>
                <a:cubicBezTo>
                  <a:pt x="43704" y="390144"/>
                  <a:pt x="0" y="346440"/>
                  <a:pt x="0" y="292608"/>
                </a:cubicBezTo>
                <a:lnTo>
                  <a:pt x="0" y="97536"/>
                </a:lnTo>
                <a:cubicBezTo>
                  <a:pt x="0" y="43704"/>
                  <a:pt x="43704" y="0"/>
                  <a:pt x="97536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642354" y="2934208"/>
            <a:ext cx="162560" cy="162560"/>
          </a:xfrm>
          <a:custGeom>
            <a:avLst/>
            <a:gdLst/>
            <a:ahLst/>
            <a:cxnLst/>
            <a:rect l="l" t="t" r="r" b="b"/>
            <a:pathLst>
              <a:path w="162560" h="162560">
                <a:moveTo>
                  <a:pt x="38100" y="17780"/>
                </a:moveTo>
                <a:cubicBezTo>
                  <a:pt x="38100" y="7969"/>
                  <a:pt x="46069" y="0"/>
                  <a:pt x="55880" y="0"/>
                </a:cubicBezTo>
                <a:lnTo>
                  <a:pt x="63500" y="0"/>
                </a:lnTo>
                <a:cubicBezTo>
                  <a:pt x="69120" y="0"/>
                  <a:pt x="73660" y="4540"/>
                  <a:pt x="73660" y="10160"/>
                </a:cubicBezTo>
                <a:lnTo>
                  <a:pt x="73660" y="152400"/>
                </a:lnTo>
                <a:cubicBezTo>
                  <a:pt x="73660" y="158020"/>
                  <a:pt x="69120" y="162560"/>
                  <a:pt x="63500" y="162560"/>
                </a:cubicBezTo>
                <a:lnTo>
                  <a:pt x="53340" y="162560"/>
                </a:lnTo>
                <a:cubicBezTo>
                  <a:pt x="43879" y="162560"/>
                  <a:pt x="35909" y="156083"/>
                  <a:pt x="33655" y="147320"/>
                </a:cubicBezTo>
                <a:cubicBezTo>
                  <a:pt x="33433" y="147320"/>
                  <a:pt x="33242" y="147320"/>
                  <a:pt x="33020" y="147320"/>
                </a:cubicBezTo>
                <a:cubicBezTo>
                  <a:pt x="18987" y="147320"/>
                  <a:pt x="7620" y="135954"/>
                  <a:pt x="7620" y="121920"/>
                </a:cubicBezTo>
                <a:cubicBezTo>
                  <a:pt x="7620" y="116205"/>
                  <a:pt x="9525" y="110935"/>
                  <a:pt x="12700" y="106680"/>
                </a:cubicBezTo>
                <a:cubicBezTo>
                  <a:pt x="6541" y="102045"/>
                  <a:pt x="2540" y="94679"/>
                  <a:pt x="2540" y="86360"/>
                </a:cubicBezTo>
                <a:cubicBezTo>
                  <a:pt x="2540" y="76549"/>
                  <a:pt x="8128" y="68009"/>
                  <a:pt x="16256" y="63786"/>
                </a:cubicBezTo>
                <a:cubicBezTo>
                  <a:pt x="14002" y="59976"/>
                  <a:pt x="12700" y="55531"/>
                  <a:pt x="12700" y="50800"/>
                </a:cubicBezTo>
                <a:cubicBezTo>
                  <a:pt x="12700" y="36767"/>
                  <a:pt x="24067" y="25400"/>
                  <a:pt x="38100" y="25400"/>
                </a:cubicBezTo>
                <a:lnTo>
                  <a:pt x="38100" y="17780"/>
                </a:lnTo>
                <a:close/>
                <a:moveTo>
                  <a:pt x="124460" y="17780"/>
                </a:moveTo>
                <a:lnTo>
                  <a:pt x="124460" y="25400"/>
                </a:lnTo>
                <a:cubicBezTo>
                  <a:pt x="138494" y="25400"/>
                  <a:pt x="149860" y="36767"/>
                  <a:pt x="149860" y="50800"/>
                </a:cubicBezTo>
                <a:cubicBezTo>
                  <a:pt x="149860" y="55563"/>
                  <a:pt x="148558" y="60008"/>
                  <a:pt x="146304" y="63786"/>
                </a:cubicBezTo>
                <a:cubicBezTo>
                  <a:pt x="154464" y="68009"/>
                  <a:pt x="160020" y="76518"/>
                  <a:pt x="160020" y="86360"/>
                </a:cubicBezTo>
                <a:cubicBezTo>
                  <a:pt x="160020" y="94679"/>
                  <a:pt x="156020" y="102045"/>
                  <a:pt x="149860" y="106680"/>
                </a:cubicBezTo>
                <a:cubicBezTo>
                  <a:pt x="153035" y="110935"/>
                  <a:pt x="154940" y="116205"/>
                  <a:pt x="154940" y="121920"/>
                </a:cubicBezTo>
                <a:cubicBezTo>
                  <a:pt x="154940" y="135954"/>
                  <a:pt x="143574" y="147320"/>
                  <a:pt x="129540" y="147320"/>
                </a:cubicBezTo>
                <a:cubicBezTo>
                  <a:pt x="129318" y="147320"/>
                  <a:pt x="129127" y="147320"/>
                  <a:pt x="128905" y="147320"/>
                </a:cubicBezTo>
                <a:cubicBezTo>
                  <a:pt x="126651" y="156083"/>
                  <a:pt x="118682" y="162560"/>
                  <a:pt x="109220" y="162560"/>
                </a:cubicBezTo>
                <a:lnTo>
                  <a:pt x="99060" y="162560"/>
                </a:lnTo>
                <a:cubicBezTo>
                  <a:pt x="93440" y="162560"/>
                  <a:pt x="88900" y="158020"/>
                  <a:pt x="88900" y="152400"/>
                </a:cubicBezTo>
                <a:lnTo>
                  <a:pt x="88900" y="10160"/>
                </a:lnTo>
                <a:cubicBezTo>
                  <a:pt x="88900" y="4540"/>
                  <a:pt x="93440" y="0"/>
                  <a:pt x="99060" y="0"/>
                </a:cubicBezTo>
                <a:lnTo>
                  <a:pt x="106680" y="0"/>
                </a:lnTo>
                <a:cubicBezTo>
                  <a:pt x="116491" y="0"/>
                  <a:pt x="124460" y="7969"/>
                  <a:pt x="124460" y="1778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8" name="Text 26"/>
          <p:cNvSpPr/>
          <p:nvPr/>
        </p:nvSpPr>
        <p:spPr>
          <a:xfrm>
            <a:off x="7048754" y="2836672"/>
            <a:ext cx="1495552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本体对象理解与问题诊断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8754" y="3031744"/>
            <a:ext cx="1487424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智能识别问题类型与根因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8514" y="3438144"/>
            <a:ext cx="5266944" cy="650240"/>
          </a:xfrm>
          <a:custGeom>
            <a:avLst/>
            <a:gdLst/>
            <a:ahLst/>
            <a:cxnLst/>
            <a:rect l="l" t="t" r="r" b="b"/>
            <a:pathLst>
              <a:path w="5266944" h="650240">
                <a:moveTo>
                  <a:pt x="97536" y="0"/>
                </a:moveTo>
                <a:lnTo>
                  <a:pt x="5169408" y="0"/>
                </a:lnTo>
                <a:cubicBezTo>
                  <a:pt x="5223276" y="0"/>
                  <a:pt x="5266944" y="43668"/>
                  <a:pt x="5266944" y="97536"/>
                </a:cubicBezTo>
                <a:lnTo>
                  <a:pt x="5266944" y="552704"/>
                </a:lnTo>
                <a:cubicBezTo>
                  <a:pt x="5266944" y="606572"/>
                  <a:pt x="5223276" y="650240"/>
                  <a:pt x="5169408" y="650240"/>
                </a:cubicBezTo>
                <a:lnTo>
                  <a:pt x="97536" y="650240"/>
                </a:lnTo>
                <a:cubicBezTo>
                  <a:pt x="43704" y="650240"/>
                  <a:pt x="0" y="606536"/>
                  <a:pt x="0" y="552704"/>
                </a:cubicBezTo>
                <a:lnTo>
                  <a:pt x="0" y="97536"/>
                </a:lnTo>
                <a:cubicBezTo>
                  <a:pt x="0" y="43704"/>
                  <a:pt x="43704" y="0"/>
                  <a:pt x="97536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1" name="Shape 29"/>
          <p:cNvSpPr/>
          <p:nvPr/>
        </p:nvSpPr>
        <p:spPr>
          <a:xfrm>
            <a:off x="6528562" y="3568192"/>
            <a:ext cx="390144" cy="390144"/>
          </a:xfrm>
          <a:custGeom>
            <a:avLst/>
            <a:gdLst/>
            <a:ahLst/>
            <a:cxnLst/>
            <a:rect l="l" t="t" r="r" b="b"/>
            <a:pathLst>
              <a:path w="390144" h="390144">
                <a:moveTo>
                  <a:pt x="97536" y="0"/>
                </a:moveTo>
                <a:lnTo>
                  <a:pt x="292608" y="0"/>
                </a:lnTo>
                <a:cubicBezTo>
                  <a:pt x="346440" y="0"/>
                  <a:pt x="390144" y="43704"/>
                  <a:pt x="390144" y="97536"/>
                </a:cubicBezTo>
                <a:lnTo>
                  <a:pt x="390144" y="292608"/>
                </a:lnTo>
                <a:cubicBezTo>
                  <a:pt x="390144" y="346440"/>
                  <a:pt x="346440" y="390144"/>
                  <a:pt x="292608" y="390144"/>
                </a:cubicBezTo>
                <a:lnTo>
                  <a:pt x="97536" y="390144"/>
                </a:lnTo>
                <a:cubicBezTo>
                  <a:pt x="43704" y="390144"/>
                  <a:pt x="0" y="346440"/>
                  <a:pt x="0" y="292608"/>
                </a:cubicBezTo>
                <a:lnTo>
                  <a:pt x="0" y="97536"/>
                </a:lnTo>
                <a:cubicBezTo>
                  <a:pt x="0" y="43704"/>
                  <a:pt x="43704" y="0"/>
                  <a:pt x="97536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642354" y="3681984"/>
            <a:ext cx="162560" cy="162560"/>
          </a:xfrm>
          <a:custGeom>
            <a:avLst/>
            <a:gdLst/>
            <a:ahLst/>
            <a:cxnLst/>
            <a:rect l="l" t="t" r="r" b="b"/>
            <a:pathLst>
              <a:path w="162560" h="162560">
                <a:moveTo>
                  <a:pt x="0" y="25400"/>
                </a:moveTo>
                <a:cubicBezTo>
                  <a:pt x="0" y="16986"/>
                  <a:pt x="6826" y="10160"/>
                  <a:pt x="15240" y="10160"/>
                </a:cubicBezTo>
                <a:lnTo>
                  <a:pt x="45720" y="10160"/>
                </a:lnTo>
                <a:cubicBezTo>
                  <a:pt x="54134" y="10160"/>
                  <a:pt x="60960" y="16986"/>
                  <a:pt x="60960" y="25400"/>
                </a:cubicBezTo>
                <a:lnTo>
                  <a:pt x="60960" y="30480"/>
                </a:lnTo>
                <a:lnTo>
                  <a:pt x="101600" y="30480"/>
                </a:lnTo>
                <a:lnTo>
                  <a:pt x="101600" y="25400"/>
                </a:lnTo>
                <a:cubicBezTo>
                  <a:pt x="101600" y="16986"/>
                  <a:pt x="108426" y="10160"/>
                  <a:pt x="116840" y="10160"/>
                </a:cubicBezTo>
                <a:lnTo>
                  <a:pt x="147320" y="10160"/>
                </a:lnTo>
                <a:cubicBezTo>
                  <a:pt x="155734" y="10160"/>
                  <a:pt x="162560" y="16986"/>
                  <a:pt x="162560" y="25400"/>
                </a:cubicBezTo>
                <a:lnTo>
                  <a:pt x="162560" y="55880"/>
                </a:lnTo>
                <a:cubicBezTo>
                  <a:pt x="162560" y="64294"/>
                  <a:pt x="155734" y="71120"/>
                  <a:pt x="147320" y="71120"/>
                </a:cubicBezTo>
                <a:lnTo>
                  <a:pt x="116840" y="71120"/>
                </a:lnTo>
                <a:cubicBezTo>
                  <a:pt x="108426" y="71120"/>
                  <a:pt x="101600" y="64294"/>
                  <a:pt x="101600" y="55880"/>
                </a:cubicBezTo>
                <a:lnTo>
                  <a:pt x="101600" y="50800"/>
                </a:lnTo>
                <a:lnTo>
                  <a:pt x="60960" y="50800"/>
                </a:lnTo>
                <a:lnTo>
                  <a:pt x="60960" y="55880"/>
                </a:lnTo>
                <a:cubicBezTo>
                  <a:pt x="60960" y="58198"/>
                  <a:pt x="60420" y="60420"/>
                  <a:pt x="59500" y="62389"/>
                </a:cubicBezTo>
                <a:lnTo>
                  <a:pt x="81280" y="91440"/>
                </a:lnTo>
                <a:lnTo>
                  <a:pt x="106680" y="91440"/>
                </a:lnTo>
                <a:cubicBezTo>
                  <a:pt x="115094" y="91440"/>
                  <a:pt x="121920" y="98266"/>
                  <a:pt x="121920" y="106680"/>
                </a:cubicBezTo>
                <a:lnTo>
                  <a:pt x="121920" y="137160"/>
                </a:lnTo>
                <a:cubicBezTo>
                  <a:pt x="121920" y="145574"/>
                  <a:pt x="115094" y="152400"/>
                  <a:pt x="106680" y="152400"/>
                </a:cubicBezTo>
                <a:lnTo>
                  <a:pt x="76200" y="152400"/>
                </a:lnTo>
                <a:cubicBezTo>
                  <a:pt x="67786" y="152400"/>
                  <a:pt x="60960" y="145574"/>
                  <a:pt x="60960" y="137160"/>
                </a:cubicBezTo>
                <a:lnTo>
                  <a:pt x="60960" y="106680"/>
                </a:lnTo>
                <a:cubicBezTo>
                  <a:pt x="60960" y="104362"/>
                  <a:pt x="61500" y="102140"/>
                  <a:pt x="62421" y="100171"/>
                </a:cubicBezTo>
                <a:lnTo>
                  <a:pt x="40640" y="71120"/>
                </a:lnTo>
                <a:lnTo>
                  <a:pt x="15240" y="71120"/>
                </a:lnTo>
                <a:cubicBezTo>
                  <a:pt x="6826" y="71120"/>
                  <a:pt x="0" y="64294"/>
                  <a:pt x="0" y="55880"/>
                </a:cubicBezTo>
                <a:lnTo>
                  <a:pt x="0" y="2540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33" name="Text 31"/>
          <p:cNvSpPr/>
          <p:nvPr/>
        </p:nvSpPr>
        <p:spPr>
          <a:xfrm>
            <a:off x="7048754" y="3584448"/>
            <a:ext cx="1316736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策略生成与决策编排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8754" y="3779520"/>
            <a:ext cx="1308608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自动生成可执行策略方案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8514" y="4185920"/>
            <a:ext cx="5266944" cy="650240"/>
          </a:xfrm>
          <a:custGeom>
            <a:avLst/>
            <a:gdLst/>
            <a:ahLst/>
            <a:cxnLst/>
            <a:rect l="l" t="t" r="r" b="b"/>
            <a:pathLst>
              <a:path w="5266944" h="650240">
                <a:moveTo>
                  <a:pt x="97536" y="0"/>
                </a:moveTo>
                <a:lnTo>
                  <a:pt x="5169408" y="0"/>
                </a:lnTo>
                <a:cubicBezTo>
                  <a:pt x="5223276" y="0"/>
                  <a:pt x="5266944" y="43668"/>
                  <a:pt x="5266944" y="97536"/>
                </a:cubicBezTo>
                <a:lnTo>
                  <a:pt x="5266944" y="552704"/>
                </a:lnTo>
                <a:cubicBezTo>
                  <a:pt x="5266944" y="606572"/>
                  <a:pt x="5223276" y="650240"/>
                  <a:pt x="5169408" y="650240"/>
                </a:cubicBezTo>
                <a:lnTo>
                  <a:pt x="97536" y="650240"/>
                </a:lnTo>
                <a:cubicBezTo>
                  <a:pt x="43704" y="650240"/>
                  <a:pt x="0" y="606536"/>
                  <a:pt x="0" y="552704"/>
                </a:cubicBezTo>
                <a:lnTo>
                  <a:pt x="0" y="97536"/>
                </a:lnTo>
                <a:cubicBezTo>
                  <a:pt x="0" y="43704"/>
                  <a:pt x="43704" y="0"/>
                  <a:pt x="97536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6" name="Shape 34"/>
          <p:cNvSpPr/>
          <p:nvPr/>
        </p:nvSpPr>
        <p:spPr>
          <a:xfrm>
            <a:off x="6528562" y="4315968"/>
            <a:ext cx="390144" cy="390144"/>
          </a:xfrm>
          <a:custGeom>
            <a:avLst/>
            <a:gdLst/>
            <a:ahLst/>
            <a:cxnLst/>
            <a:rect l="l" t="t" r="r" b="b"/>
            <a:pathLst>
              <a:path w="390144" h="390144">
                <a:moveTo>
                  <a:pt x="97536" y="0"/>
                </a:moveTo>
                <a:lnTo>
                  <a:pt x="292608" y="0"/>
                </a:lnTo>
                <a:cubicBezTo>
                  <a:pt x="346440" y="0"/>
                  <a:pt x="390144" y="43704"/>
                  <a:pt x="390144" y="97536"/>
                </a:cubicBezTo>
                <a:lnTo>
                  <a:pt x="390144" y="292608"/>
                </a:lnTo>
                <a:cubicBezTo>
                  <a:pt x="390144" y="346440"/>
                  <a:pt x="346440" y="390144"/>
                  <a:pt x="292608" y="390144"/>
                </a:cubicBezTo>
                <a:lnTo>
                  <a:pt x="97536" y="390144"/>
                </a:lnTo>
                <a:cubicBezTo>
                  <a:pt x="43704" y="390144"/>
                  <a:pt x="0" y="346440"/>
                  <a:pt x="0" y="292608"/>
                </a:cubicBezTo>
                <a:lnTo>
                  <a:pt x="0" y="97536"/>
                </a:lnTo>
                <a:cubicBezTo>
                  <a:pt x="0" y="43704"/>
                  <a:pt x="43704" y="0"/>
                  <a:pt x="97536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662674" y="442976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0" y="20320"/>
                </a:moveTo>
                <a:cubicBezTo>
                  <a:pt x="0" y="9112"/>
                  <a:pt x="9112" y="0"/>
                  <a:pt x="20320" y="0"/>
                </a:cubicBezTo>
                <a:lnTo>
                  <a:pt x="67786" y="0"/>
                </a:lnTo>
                <a:cubicBezTo>
                  <a:pt x="73184" y="0"/>
                  <a:pt x="78359" y="2127"/>
                  <a:pt x="82169" y="5937"/>
                </a:cubicBezTo>
                <a:lnTo>
                  <a:pt x="115983" y="39783"/>
                </a:lnTo>
                <a:cubicBezTo>
                  <a:pt x="119793" y="43593"/>
                  <a:pt x="121920" y="48768"/>
                  <a:pt x="121920" y="54166"/>
                </a:cubicBezTo>
                <a:lnTo>
                  <a:pt x="121920" y="142240"/>
                </a:lnTo>
                <a:cubicBezTo>
                  <a:pt x="121920" y="153448"/>
                  <a:pt x="112808" y="162560"/>
                  <a:pt x="101600" y="162560"/>
                </a:cubicBezTo>
                <a:lnTo>
                  <a:pt x="20320" y="162560"/>
                </a:lnTo>
                <a:cubicBezTo>
                  <a:pt x="9112" y="162560"/>
                  <a:pt x="0" y="153448"/>
                  <a:pt x="0" y="142240"/>
                </a:cubicBezTo>
                <a:lnTo>
                  <a:pt x="0" y="20320"/>
                </a:lnTo>
                <a:close/>
                <a:moveTo>
                  <a:pt x="66040" y="18574"/>
                </a:moveTo>
                <a:lnTo>
                  <a:pt x="66040" y="48260"/>
                </a:lnTo>
                <a:cubicBezTo>
                  <a:pt x="66040" y="52483"/>
                  <a:pt x="69437" y="55880"/>
                  <a:pt x="73660" y="55880"/>
                </a:cubicBezTo>
                <a:lnTo>
                  <a:pt x="103346" y="55880"/>
                </a:lnTo>
                <a:lnTo>
                  <a:pt x="66040" y="18574"/>
                </a:lnTo>
                <a:close/>
                <a:moveTo>
                  <a:pt x="38100" y="81280"/>
                </a:moveTo>
                <a:cubicBezTo>
                  <a:pt x="33877" y="81280"/>
                  <a:pt x="30480" y="84677"/>
                  <a:pt x="30480" y="88900"/>
                </a:cubicBezTo>
                <a:cubicBezTo>
                  <a:pt x="30480" y="93123"/>
                  <a:pt x="33877" y="96520"/>
                  <a:pt x="38100" y="96520"/>
                </a:cubicBezTo>
                <a:lnTo>
                  <a:pt x="83820" y="96520"/>
                </a:lnTo>
                <a:cubicBezTo>
                  <a:pt x="88043" y="96520"/>
                  <a:pt x="91440" y="93123"/>
                  <a:pt x="91440" y="88900"/>
                </a:cubicBezTo>
                <a:cubicBezTo>
                  <a:pt x="91440" y="84677"/>
                  <a:pt x="88043" y="81280"/>
                  <a:pt x="83820" y="81280"/>
                </a:cubicBezTo>
                <a:lnTo>
                  <a:pt x="38100" y="81280"/>
                </a:lnTo>
                <a:close/>
                <a:moveTo>
                  <a:pt x="38100" y="111760"/>
                </a:moveTo>
                <a:cubicBezTo>
                  <a:pt x="33877" y="111760"/>
                  <a:pt x="30480" y="115157"/>
                  <a:pt x="30480" y="119380"/>
                </a:cubicBezTo>
                <a:cubicBezTo>
                  <a:pt x="30480" y="123603"/>
                  <a:pt x="33877" y="127000"/>
                  <a:pt x="38100" y="127000"/>
                </a:cubicBezTo>
                <a:lnTo>
                  <a:pt x="83820" y="127000"/>
                </a:lnTo>
                <a:cubicBezTo>
                  <a:pt x="88043" y="127000"/>
                  <a:pt x="91440" y="123603"/>
                  <a:pt x="91440" y="119380"/>
                </a:cubicBezTo>
                <a:cubicBezTo>
                  <a:pt x="91440" y="115157"/>
                  <a:pt x="88043" y="111760"/>
                  <a:pt x="83820" y="111760"/>
                </a:cubicBezTo>
                <a:lnTo>
                  <a:pt x="38100" y="11176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38" name="Text 36"/>
          <p:cNvSpPr/>
          <p:nvPr/>
        </p:nvSpPr>
        <p:spPr>
          <a:xfrm>
            <a:off x="7048754" y="4332224"/>
            <a:ext cx="1682496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Evidence 引用与可解释输出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754" y="4527296"/>
            <a:ext cx="1674368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每个决策都有据可查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98514" y="4933696"/>
            <a:ext cx="5266944" cy="650240"/>
          </a:xfrm>
          <a:custGeom>
            <a:avLst/>
            <a:gdLst/>
            <a:ahLst/>
            <a:cxnLst/>
            <a:rect l="l" t="t" r="r" b="b"/>
            <a:pathLst>
              <a:path w="5266944" h="650240">
                <a:moveTo>
                  <a:pt x="97536" y="0"/>
                </a:moveTo>
                <a:lnTo>
                  <a:pt x="5169408" y="0"/>
                </a:lnTo>
                <a:cubicBezTo>
                  <a:pt x="5223276" y="0"/>
                  <a:pt x="5266944" y="43668"/>
                  <a:pt x="5266944" y="97536"/>
                </a:cubicBezTo>
                <a:lnTo>
                  <a:pt x="5266944" y="552704"/>
                </a:lnTo>
                <a:cubicBezTo>
                  <a:pt x="5266944" y="606572"/>
                  <a:pt x="5223276" y="650240"/>
                  <a:pt x="5169408" y="650240"/>
                </a:cubicBezTo>
                <a:lnTo>
                  <a:pt x="97536" y="650240"/>
                </a:lnTo>
                <a:cubicBezTo>
                  <a:pt x="43704" y="650240"/>
                  <a:pt x="0" y="606536"/>
                  <a:pt x="0" y="552704"/>
                </a:cubicBezTo>
                <a:lnTo>
                  <a:pt x="0" y="97536"/>
                </a:lnTo>
                <a:cubicBezTo>
                  <a:pt x="0" y="43704"/>
                  <a:pt x="43704" y="0"/>
                  <a:pt x="97536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41" name="Shape 39"/>
          <p:cNvSpPr/>
          <p:nvPr/>
        </p:nvSpPr>
        <p:spPr>
          <a:xfrm>
            <a:off x="6528562" y="5063744"/>
            <a:ext cx="390144" cy="390144"/>
          </a:xfrm>
          <a:custGeom>
            <a:avLst/>
            <a:gdLst/>
            <a:ahLst/>
            <a:cxnLst/>
            <a:rect l="l" t="t" r="r" b="b"/>
            <a:pathLst>
              <a:path w="390144" h="390144">
                <a:moveTo>
                  <a:pt x="97536" y="0"/>
                </a:moveTo>
                <a:lnTo>
                  <a:pt x="292608" y="0"/>
                </a:lnTo>
                <a:cubicBezTo>
                  <a:pt x="346440" y="0"/>
                  <a:pt x="390144" y="43704"/>
                  <a:pt x="390144" y="97536"/>
                </a:cubicBezTo>
                <a:lnTo>
                  <a:pt x="390144" y="292608"/>
                </a:lnTo>
                <a:cubicBezTo>
                  <a:pt x="390144" y="346440"/>
                  <a:pt x="346440" y="390144"/>
                  <a:pt x="292608" y="390144"/>
                </a:cubicBezTo>
                <a:lnTo>
                  <a:pt x="97536" y="390144"/>
                </a:lnTo>
                <a:cubicBezTo>
                  <a:pt x="43704" y="390144"/>
                  <a:pt x="0" y="346440"/>
                  <a:pt x="0" y="292608"/>
                </a:cubicBezTo>
                <a:lnTo>
                  <a:pt x="0" y="97536"/>
                </a:lnTo>
                <a:cubicBezTo>
                  <a:pt x="0" y="43704"/>
                  <a:pt x="43704" y="0"/>
                  <a:pt x="97536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642354" y="5177536"/>
            <a:ext cx="162560" cy="162560"/>
          </a:xfrm>
          <a:custGeom>
            <a:avLst/>
            <a:gdLst/>
            <a:ahLst/>
            <a:cxnLst/>
            <a:rect l="l" t="t" r="r" b="b"/>
            <a:pathLst>
              <a:path w="162560" h="162560">
                <a:moveTo>
                  <a:pt x="152432" y="60960"/>
                </a:moveTo>
                <a:lnTo>
                  <a:pt x="154940" y="60960"/>
                </a:lnTo>
                <a:cubicBezTo>
                  <a:pt x="159163" y="60960"/>
                  <a:pt x="162560" y="57563"/>
                  <a:pt x="162560" y="53340"/>
                </a:cubicBezTo>
                <a:lnTo>
                  <a:pt x="162560" y="7620"/>
                </a:lnTo>
                <a:cubicBezTo>
                  <a:pt x="162560" y="4540"/>
                  <a:pt x="160719" y="1746"/>
                  <a:pt x="157861" y="572"/>
                </a:cubicBezTo>
                <a:cubicBezTo>
                  <a:pt x="155004" y="-603"/>
                  <a:pt x="151733" y="64"/>
                  <a:pt x="149543" y="2223"/>
                </a:cubicBezTo>
                <a:lnTo>
                  <a:pt x="133128" y="18669"/>
                </a:lnTo>
                <a:cubicBezTo>
                  <a:pt x="119063" y="7017"/>
                  <a:pt x="100965" y="0"/>
                  <a:pt x="81280" y="0"/>
                </a:cubicBezTo>
                <a:cubicBezTo>
                  <a:pt x="40323" y="0"/>
                  <a:pt x="6445" y="30290"/>
                  <a:pt x="826" y="69691"/>
                </a:cubicBezTo>
                <a:cubicBezTo>
                  <a:pt x="32" y="75248"/>
                  <a:pt x="3873" y="80391"/>
                  <a:pt x="9430" y="81185"/>
                </a:cubicBezTo>
                <a:cubicBezTo>
                  <a:pt x="14986" y="81979"/>
                  <a:pt x="20130" y="78105"/>
                  <a:pt x="20923" y="72581"/>
                </a:cubicBezTo>
                <a:cubicBezTo>
                  <a:pt x="25146" y="43021"/>
                  <a:pt x="50578" y="20320"/>
                  <a:pt x="81280" y="20320"/>
                </a:cubicBezTo>
                <a:cubicBezTo>
                  <a:pt x="95377" y="20320"/>
                  <a:pt x="108331" y="25083"/>
                  <a:pt x="118650" y="33115"/>
                </a:cubicBezTo>
                <a:lnTo>
                  <a:pt x="103823" y="47943"/>
                </a:lnTo>
                <a:cubicBezTo>
                  <a:pt x="101632" y="50133"/>
                  <a:pt x="100997" y="53404"/>
                  <a:pt x="102172" y="56261"/>
                </a:cubicBezTo>
                <a:cubicBezTo>
                  <a:pt x="103346" y="59118"/>
                  <a:pt x="106140" y="60960"/>
                  <a:pt x="109220" y="60960"/>
                </a:cubicBezTo>
                <a:lnTo>
                  <a:pt x="152432" y="60960"/>
                </a:lnTo>
                <a:close/>
                <a:moveTo>
                  <a:pt x="161766" y="92869"/>
                </a:moveTo>
                <a:cubicBezTo>
                  <a:pt x="162560" y="87313"/>
                  <a:pt x="158687" y="82169"/>
                  <a:pt x="153162" y="81375"/>
                </a:cubicBezTo>
                <a:cubicBezTo>
                  <a:pt x="147637" y="80582"/>
                  <a:pt x="142462" y="84455"/>
                  <a:pt x="141669" y="89980"/>
                </a:cubicBezTo>
                <a:cubicBezTo>
                  <a:pt x="137446" y="119507"/>
                  <a:pt x="112014" y="142208"/>
                  <a:pt x="81312" y="142208"/>
                </a:cubicBezTo>
                <a:cubicBezTo>
                  <a:pt x="67215" y="142208"/>
                  <a:pt x="54261" y="137446"/>
                  <a:pt x="43942" y="129413"/>
                </a:cubicBezTo>
                <a:lnTo>
                  <a:pt x="58738" y="114618"/>
                </a:lnTo>
                <a:cubicBezTo>
                  <a:pt x="60928" y="112427"/>
                  <a:pt x="61563" y="109157"/>
                  <a:pt x="60389" y="106299"/>
                </a:cubicBezTo>
                <a:cubicBezTo>
                  <a:pt x="59214" y="103442"/>
                  <a:pt x="56420" y="101600"/>
                  <a:pt x="53340" y="101600"/>
                </a:cubicBezTo>
                <a:lnTo>
                  <a:pt x="7620" y="101600"/>
                </a:lnTo>
                <a:cubicBezTo>
                  <a:pt x="3397" y="101600"/>
                  <a:pt x="0" y="104997"/>
                  <a:pt x="0" y="109220"/>
                </a:cubicBezTo>
                <a:lnTo>
                  <a:pt x="0" y="154940"/>
                </a:lnTo>
                <a:cubicBezTo>
                  <a:pt x="0" y="158020"/>
                  <a:pt x="1842" y="160814"/>
                  <a:pt x="4699" y="161989"/>
                </a:cubicBezTo>
                <a:cubicBezTo>
                  <a:pt x="7556" y="163163"/>
                  <a:pt x="10827" y="162497"/>
                  <a:pt x="13018" y="160338"/>
                </a:cubicBezTo>
                <a:lnTo>
                  <a:pt x="29464" y="143891"/>
                </a:lnTo>
                <a:cubicBezTo>
                  <a:pt x="43498" y="155543"/>
                  <a:pt x="61595" y="162560"/>
                  <a:pt x="81280" y="162560"/>
                </a:cubicBezTo>
                <a:cubicBezTo>
                  <a:pt x="122238" y="162560"/>
                  <a:pt x="156115" y="132271"/>
                  <a:pt x="161735" y="92869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3" name="Text 41"/>
          <p:cNvSpPr/>
          <p:nvPr/>
        </p:nvSpPr>
        <p:spPr>
          <a:xfrm>
            <a:off x="7048754" y="5080000"/>
            <a:ext cx="1235456" cy="195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执行回写与评测闭环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48754" y="5275072"/>
            <a:ext cx="1227328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持续优化决策质量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5314" y="5949696"/>
            <a:ext cx="5673344" cy="910336"/>
          </a:xfrm>
          <a:custGeom>
            <a:avLst/>
            <a:gdLst/>
            <a:ahLst/>
            <a:cxnLst/>
            <a:rect l="l" t="t" r="r" b="b"/>
            <a:pathLst>
              <a:path w="5673344" h="910336">
                <a:moveTo>
                  <a:pt x="130051" y="0"/>
                </a:moveTo>
                <a:lnTo>
                  <a:pt x="5543293" y="0"/>
                </a:lnTo>
                <a:cubicBezTo>
                  <a:pt x="5615118" y="0"/>
                  <a:pt x="5673344" y="58226"/>
                  <a:pt x="5673344" y="130051"/>
                </a:cubicBezTo>
                <a:lnTo>
                  <a:pt x="5673344" y="780285"/>
                </a:lnTo>
                <a:cubicBezTo>
                  <a:pt x="5673344" y="852110"/>
                  <a:pt x="5615118" y="910336"/>
                  <a:pt x="5543293" y="910336"/>
                </a:cubicBezTo>
                <a:lnTo>
                  <a:pt x="130051" y="910336"/>
                </a:lnTo>
                <a:cubicBezTo>
                  <a:pt x="58274" y="910336"/>
                  <a:pt x="0" y="852062"/>
                  <a:pt x="0" y="780285"/>
                </a:cubicBezTo>
                <a:lnTo>
                  <a:pt x="0" y="130051"/>
                </a:lnTo>
                <a:cubicBezTo>
                  <a:pt x="0" y="58274"/>
                  <a:pt x="58274" y="0"/>
                  <a:pt x="130051" y="0"/>
                </a:cubicBezTo>
                <a:close/>
              </a:path>
            </a:pathLst>
          </a:custGeom>
          <a:solidFill>
            <a:srgbClr val="1D1D1D"/>
          </a:solidFill>
        </p:spPr>
      </p:sp>
      <p:sp>
        <p:nvSpPr>
          <p:cNvPr id="46" name="Shape 44"/>
          <p:cNvSpPr/>
          <p:nvPr/>
        </p:nvSpPr>
        <p:spPr>
          <a:xfrm>
            <a:off x="6390386" y="6177280"/>
            <a:ext cx="455168" cy="455168"/>
          </a:xfrm>
          <a:custGeom>
            <a:avLst/>
            <a:gdLst/>
            <a:ahLst/>
            <a:cxnLst/>
            <a:rect l="l" t="t" r="r" b="b"/>
            <a:pathLst>
              <a:path w="455168" h="455168">
                <a:moveTo>
                  <a:pt x="97538" y="0"/>
                </a:moveTo>
                <a:lnTo>
                  <a:pt x="357630" y="0"/>
                </a:lnTo>
                <a:cubicBezTo>
                  <a:pt x="411463" y="0"/>
                  <a:pt x="455168" y="43705"/>
                  <a:pt x="455168" y="97538"/>
                </a:cubicBezTo>
                <a:lnTo>
                  <a:pt x="455168" y="357630"/>
                </a:lnTo>
                <a:cubicBezTo>
                  <a:pt x="455168" y="411499"/>
                  <a:pt x="411499" y="455168"/>
                  <a:pt x="357630" y="455168"/>
                </a:cubicBezTo>
                <a:lnTo>
                  <a:pt x="97538" y="455168"/>
                </a:lnTo>
                <a:cubicBezTo>
                  <a:pt x="43705" y="455168"/>
                  <a:pt x="0" y="411463"/>
                  <a:pt x="0" y="357630"/>
                </a:cubicBezTo>
                <a:lnTo>
                  <a:pt x="0" y="97538"/>
                </a:lnTo>
                <a:cubicBezTo>
                  <a:pt x="0" y="43705"/>
                  <a:pt x="43705" y="0"/>
                  <a:pt x="97538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7" name="Shape 45"/>
          <p:cNvSpPr/>
          <p:nvPr/>
        </p:nvSpPr>
        <p:spPr>
          <a:xfrm>
            <a:off x="6508242" y="6307328"/>
            <a:ext cx="219456" cy="195072"/>
          </a:xfrm>
          <a:custGeom>
            <a:avLst/>
            <a:gdLst/>
            <a:ahLst/>
            <a:cxnLst/>
            <a:rect l="l" t="t" r="r" b="b"/>
            <a:pathLst>
              <a:path w="219456" h="195072">
                <a:moveTo>
                  <a:pt x="117920" y="-7201"/>
                </a:moveTo>
                <a:cubicBezTo>
                  <a:pt x="116357" y="-10249"/>
                  <a:pt x="113195" y="-12192"/>
                  <a:pt x="109766" y="-12192"/>
                </a:cubicBezTo>
                <a:cubicBezTo>
                  <a:pt x="106337" y="-12192"/>
                  <a:pt x="103175" y="-10249"/>
                  <a:pt x="101613" y="-7201"/>
                </a:cubicBezTo>
                <a:lnTo>
                  <a:pt x="73571" y="47739"/>
                </a:lnTo>
                <a:lnTo>
                  <a:pt x="12649" y="57417"/>
                </a:lnTo>
                <a:cubicBezTo>
                  <a:pt x="9258" y="57950"/>
                  <a:pt x="6439" y="60350"/>
                  <a:pt x="5372" y="63627"/>
                </a:cubicBezTo>
                <a:cubicBezTo>
                  <a:pt x="4305" y="66904"/>
                  <a:pt x="5182" y="70485"/>
                  <a:pt x="7582" y="72923"/>
                </a:cubicBezTo>
                <a:lnTo>
                  <a:pt x="51168" y="116548"/>
                </a:lnTo>
                <a:lnTo>
                  <a:pt x="41567" y="177470"/>
                </a:lnTo>
                <a:cubicBezTo>
                  <a:pt x="41034" y="180861"/>
                  <a:pt x="42443" y="184290"/>
                  <a:pt x="45225" y="186309"/>
                </a:cubicBezTo>
                <a:cubicBezTo>
                  <a:pt x="48006" y="188328"/>
                  <a:pt x="51664" y="188633"/>
                  <a:pt x="54750" y="187071"/>
                </a:cubicBezTo>
                <a:lnTo>
                  <a:pt x="109766" y="159106"/>
                </a:lnTo>
                <a:lnTo>
                  <a:pt x="164744" y="187071"/>
                </a:lnTo>
                <a:cubicBezTo>
                  <a:pt x="167792" y="188633"/>
                  <a:pt x="171488" y="188328"/>
                  <a:pt x="174269" y="186309"/>
                </a:cubicBezTo>
                <a:cubicBezTo>
                  <a:pt x="177051" y="184290"/>
                  <a:pt x="178460" y="180899"/>
                  <a:pt x="177927" y="177470"/>
                </a:cubicBezTo>
                <a:lnTo>
                  <a:pt x="168288" y="116548"/>
                </a:lnTo>
                <a:lnTo>
                  <a:pt x="211874" y="72923"/>
                </a:lnTo>
                <a:cubicBezTo>
                  <a:pt x="214313" y="70485"/>
                  <a:pt x="215151" y="66904"/>
                  <a:pt x="214084" y="63627"/>
                </a:cubicBezTo>
                <a:cubicBezTo>
                  <a:pt x="213017" y="60350"/>
                  <a:pt x="210236" y="57950"/>
                  <a:pt x="206807" y="57417"/>
                </a:cubicBezTo>
                <a:lnTo>
                  <a:pt x="145923" y="47739"/>
                </a:lnTo>
                <a:lnTo>
                  <a:pt x="117920" y="-7201"/>
                </a:lnTo>
                <a:close/>
              </a:path>
            </a:pathLst>
          </a:custGeom>
          <a:solidFill>
            <a:srgbClr val="FAFAFA"/>
          </a:solidFill>
        </p:spPr>
      </p:sp>
      <p:sp>
        <p:nvSpPr>
          <p:cNvPr id="48" name="Text 46"/>
          <p:cNvSpPr/>
          <p:nvPr/>
        </p:nvSpPr>
        <p:spPr>
          <a:xfrm>
            <a:off x="6975602" y="6144768"/>
            <a:ext cx="1544320" cy="227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75602" y="6437376"/>
            <a:ext cx="1536192" cy="2275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形成企业统一决策中枢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513634" cy="185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5" b="1" kern="0" spc="20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LAYER 03 · WORKSPACE MVP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707" y="669073"/>
            <a:ext cx="11708780" cy="650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第三层：</a:t>
            </a:r>
            <a:r>
              <a:rPr lang="zh-CN" altLang="en-US" sz="41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本体大脑</a:t>
            </a:r>
            <a:r>
              <a:rPr lang="en-US" sz="41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工作台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707" y="1542585"/>
            <a:ext cx="4441902" cy="2806390"/>
          </a:xfrm>
          <a:custGeom>
            <a:avLst/>
            <a:gdLst/>
            <a:ahLst/>
            <a:cxnLst/>
            <a:rect l="l" t="t" r="r" b="b"/>
            <a:pathLst>
              <a:path w="4441902" h="2806390">
                <a:moveTo>
                  <a:pt x="148683" y="0"/>
                </a:moveTo>
                <a:lnTo>
                  <a:pt x="4293220" y="0"/>
                </a:lnTo>
                <a:cubicBezTo>
                  <a:pt x="4375335" y="0"/>
                  <a:pt x="4441902" y="66567"/>
                  <a:pt x="4441902" y="148683"/>
                </a:cubicBezTo>
                <a:lnTo>
                  <a:pt x="4441902" y="2657708"/>
                </a:lnTo>
                <a:cubicBezTo>
                  <a:pt x="4441902" y="2739768"/>
                  <a:pt x="4375280" y="2806390"/>
                  <a:pt x="4293220" y="2806390"/>
                </a:cubicBezTo>
                <a:lnTo>
                  <a:pt x="148683" y="2806390"/>
                </a:lnTo>
                <a:cubicBezTo>
                  <a:pt x="66567" y="2806390"/>
                  <a:pt x="0" y="2739823"/>
                  <a:pt x="0" y="2657708"/>
                </a:cubicBezTo>
                <a:lnTo>
                  <a:pt x="0" y="148683"/>
                </a:lnTo>
                <a:cubicBezTo>
                  <a:pt x="0" y="66567"/>
                  <a:pt x="66567" y="0"/>
                  <a:pt x="148683" y="0"/>
                </a:cubicBezTo>
                <a:close/>
              </a:path>
            </a:pathLst>
          </a:custGeom>
          <a:solidFill>
            <a:srgbClr val="86868B"/>
          </a:solidFill>
        </p:spPr>
      </p:sp>
      <p:sp>
        <p:nvSpPr>
          <p:cNvPr id="5" name="Text 3"/>
          <p:cNvSpPr/>
          <p:nvPr/>
        </p:nvSpPr>
        <p:spPr>
          <a:xfrm>
            <a:off x="669073" y="1839951"/>
            <a:ext cx="4218878" cy="743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855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9073" y="2732049"/>
            <a:ext cx="3977268" cy="1077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让人和 AI 真正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05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在一个界面里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05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把能力跑起来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9073" y="4028378"/>
            <a:ext cx="594732" cy="18585"/>
          </a:xfrm>
          <a:custGeom>
            <a:avLst/>
            <a:gdLst/>
            <a:ahLst/>
            <a:cxnLst/>
            <a:rect l="l" t="t" r="r" b="b"/>
            <a:pathLst>
              <a:path w="594732" h="18585">
                <a:moveTo>
                  <a:pt x="0" y="0"/>
                </a:moveTo>
                <a:lnTo>
                  <a:pt x="594732" y="0"/>
                </a:lnTo>
                <a:lnTo>
                  <a:pt x="594732" y="18585"/>
                </a:lnTo>
                <a:lnTo>
                  <a:pt x="0" y="18585"/>
                </a:lnTo>
                <a:lnTo>
                  <a:pt x="0" y="0"/>
                </a:lnTo>
                <a:close/>
              </a:path>
            </a:pathLst>
          </a:custGeom>
          <a:solidFill>
            <a:srgbClr val="FAFAFA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376354" y="4534829"/>
            <a:ext cx="4432610" cy="2313878"/>
          </a:xfrm>
          <a:custGeom>
            <a:avLst/>
            <a:gdLst/>
            <a:ahLst/>
            <a:cxnLst/>
            <a:rect l="l" t="t" r="r" b="b"/>
            <a:pathLst>
              <a:path w="4432610" h="2313878">
                <a:moveTo>
                  <a:pt x="148690" y="0"/>
                </a:moveTo>
                <a:lnTo>
                  <a:pt x="4283920" y="0"/>
                </a:lnTo>
                <a:cubicBezTo>
                  <a:pt x="4366039" y="0"/>
                  <a:pt x="4432610" y="66571"/>
                  <a:pt x="4432610" y="148690"/>
                </a:cubicBezTo>
                <a:lnTo>
                  <a:pt x="4432610" y="2165188"/>
                </a:lnTo>
                <a:cubicBezTo>
                  <a:pt x="4432610" y="2247307"/>
                  <a:pt x="4366039" y="2313878"/>
                  <a:pt x="4283920" y="2313878"/>
                </a:cubicBezTo>
                <a:lnTo>
                  <a:pt x="148690" y="2313878"/>
                </a:lnTo>
                <a:cubicBezTo>
                  <a:pt x="66571" y="2313878"/>
                  <a:pt x="0" y="2247307"/>
                  <a:pt x="0" y="2165188"/>
                </a:cubicBezTo>
                <a:lnTo>
                  <a:pt x="0" y="148690"/>
                </a:lnTo>
                <a:cubicBezTo>
                  <a:pt x="0" y="66626"/>
                  <a:pt x="66626" y="0"/>
                  <a:pt x="14869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4024" y="4762500"/>
            <a:ext cx="4070195" cy="26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核心回答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4024" y="5227134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111512" y="0"/>
                </a:moveTo>
                <a:lnTo>
                  <a:pt x="111512" y="0"/>
                </a:lnTo>
                <a:cubicBezTo>
                  <a:pt x="173099" y="0"/>
                  <a:pt x="223024" y="49926"/>
                  <a:pt x="223024" y="111512"/>
                </a:cubicBezTo>
                <a:lnTo>
                  <a:pt x="223024" y="111512"/>
                </a:lnTo>
                <a:cubicBezTo>
                  <a:pt x="223024" y="173099"/>
                  <a:pt x="173099" y="223024"/>
                  <a:pt x="111512" y="223024"/>
                </a:cubicBezTo>
                <a:lnTo>
                  <a:pt x="111512" y="223024"/>
                </a:lnTo>
                <a:cubicBezTo>
                  <a:pt x="49926" y="223024"/>
                  <a:pt x="0" y="173099"/>
                  <a:pt x="0" y="111512"/>
                </a:cubicBezTo>
                <a:lnTo>
                  <a:pt x="0" y="111512"/>
                </a:lnTo>
                <a:cubicBezTo>
                  <a:pt x="0" y="49926"/>
                  <a:pt x="49926" y="0"/>
                  <a:pt x="11151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89909" y="5245720"/>
            <a:ext cx="120805" cy="185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8561" y="5208549"/>
            <a:ext cx="1115122" cy="241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人在哪里看问题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4024" y="5617427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111512" y="0"/>
                </a:moveTo>
                <a:lnTo>
                  <a:pt x="111512" y="0"/>
                </a:lnTo>
                <a:cubicBezTo>
                  <a:pt x="173099" y="0"/>
                  <a:pt x="223024" y="49926"/>
                  <a:pt x="223024" y="111512"/>
                </a:cubicBezTo>
                <a:lnTo>
                  <a:pt x="223024" y="111512"/>
                </a:lnTo>
                <a:cubicBezTo>
                  <a:pt x="223024" y="173099"/>
                  <a:pt x="173099" y="223024"/>
                  <a:pt x="111512" y="223024"/>
                </a:cubicBezTo>
                <a:lnTo>
                  <a:pt x="111512" y="223024"/>
                </a:lnTo>
                <a:cubicBezTo>
                  <a:pt x="49926" y="223024"/>
                  <a:pt x="0" y="173099"/>
                  <a:pt x="0" y="111512"/>
                </a:cubicBezTo>
                <a:lnTo>
                  <a:pt x="0" y="111512"/>
                </a:lnTo>
                <a:cubicBezTo>
                  <a:pt x="0" y="49926"/>
                  <a:pt x="49926" y="0"/>
                  <a:pt x="11151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78947" y="5636012"/>
            <a:ext cx="139390" cy="185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8561" y="5598841"/>
            <a:ext cx="1709854" cy="241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人在哪里修正规则和策略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4024" y="6007720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111512" y="0"/>
                </a:moveTo>
                <a:lnTo>
                  <a:pt x="111512" y="0"/>
                </a:lnTo>
                <a:cubicBezTo>
                  <a:pt x="173099" y="0"/>
                  <a:pt x="223024" y="49926"/>
                  <a:pt x="223024" y="111512"/>
                </a:cubicBezTo>
                <a:lnTo>
                  <a:pt x="223024" y="111512"/>
                </a:lnTo>
                <a:cubicBezTo>
                  <a:pt x="223024" y="173099"/>
                  <a:pt x="173099" y="223024"/>
                  <a:pt x="111512" y="223024"/>
                </a:cubicBezTo>
                <a:lnTo>
                  <a:pt x="111512" y="223024"/>
                </a:lnTo>
                <a:cubicBezTo>
                  <a:pt x="49926" y="223024"/>
                  <a:pt x="0" y="173099"/>
                  <a:pt x="0" y="111512"/>
                </a:cubicBezTo>
                <a:lnTo>
                  <a:pt x="0" y="111512"/>
                </a:lnTo>
                <a:cubicBezTo>
                  <a:pt x="0" y="49926"/>
                  <a:pt x="49926" y="0"/>
                  <a:pt x="11151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77277" y="6026305"/>
            <a:ext cx="139390" cy="185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8561" y="5989134"/>
            <a:ext cx="2007220" cy="241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建议如何变成待办与执行动作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4024" y="6398012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111512" y="0"/>
                </a:moveTo>
                <a:lnTo>
                  <a:pt x="111512" y="0"/>
                </a:lnTo>
                <a:cubicBezTo>
                  <a:pt x="173099" y="0"/>
                  <a:pt x="223024" y="49926"/>
                  <a:pt x="223024" y="111512"/>
                </a:cubicBezTo>
                <a:lnTo>
                  <a:pt x="223024" y="111512"/>
                </a:lnTo>
                <a:cubicBezTo>
                  <a:pt x="223024" y="173099"/>
                  <a:pt x="173099" y="223024"/>
                  <a:pt x="111512" y="223024"/>
                </a:cubicBezTo>
                <a:lnTo>
                  <a:pt x="111512" y="223024"/>
                </a:lnTo>
                <a:cubicBezTo>
                  <a:pt x="49926" y="223024"/>
                  <a:pt x="0" y="173099"/>
                  <a:pt x="0" y="111512"/>
                </a:cubicBezTo>
                <a:lnTo>
                  <a:pt x="0" y="111512"/>
                </a:lnTo>
                <a:cubicBezTo>
                  <a:pt x="0" y="49926"/>
                  <a:pt x="49926" y="0"/>
                  <a:pt x="11151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677349" y="6416598"/>
            <a:ext cx="139390" cy="185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8561" y="6379427"/>
            <a:ext cx="1412488" cy="241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结果如何复盘并沉淀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44983" y="1547232"/>
            <a:ext cx="6774366" cy="3642732"/>
          </a:xfrm>
          <a:custGeom>
            <a:avLst/>
            <a:gdLst/>
            <a:ahLst/>
            <a:cxnLst/>
            <a:rect l="l" t="t" r="r" b="b"/>
            <a:pathLst>
              <a:path w="6774366" h="3642732">
                <a:moveTo>
                  <a:pt x="148696" y="0"/>
                </a:moveTo>
                <a:lnTo>
                  <a:pt x="6625670" y="0"/>
                </a:lnTo>
                <a:cubicBezTo>
                  <a:pt x="6707792" y="0"/>
                  <a:pt x="6774366" y="66574"/>
                  <a:pt x="6774366" y="148696"/>
                </a:cubicBezTo>
                <a:lnTo>
                  <a:pt x="6774366" y="3494035"/>
                </a:lnTo>
                <a:cubicBezTo>
                  <a:pt x="6774366" y="3576158"/>
                  <a:pt x="6707792" y="3642732"/>
                  <a:pt x="6625670" y="3642732"/>
                </a:cubicBezTo>
                <a:lnTo>
                  <a:pt x="148696" y="3642732"/>
                </a:lnTo>
                <a:cubicBezTo>
                  <a:pt x="66574" y="3642732"/>
                  <a:pt x="0" y="3576158"/>
                  <a:pt x="0" y="3494035"/>
                </a:cubicBezTo>
                <a:lnTo>
                  <a:pt x="0" y="148696"/>
                </a:lnTo>
                <a:cubicBezTo>
                  <a:pt x="0" y="66629"/>
                  <a:pt x="66629" y="0"/>
                  <a:pt x="14869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2654" y="1774902"/>
            <a:ext cx="6411951" cy="26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典型页面动作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72654" y="2220951"/>
            <a:ext cx="3085171" cy="1068659"/>
          </a:xfrm>
          <a:custGeom>
            <a:avLst/>
            <a:gdLst/>
            <a:ahLst/>
            <a:cxnLst/>
            <a:rect l="l" t="t" r="r" b="b"/>
            <a:pathLst>
              <a:path w="3085171" h="1068659">
                <a:moveTo>
                  <a:pt x="111515" y="0"/>
                </a:moveTo>
                <a:lnTo>
                  <a:pt x="2973656" y="0"/>
                </a:lnTo>
                <a:cubicBezTo>
                  <a:pt x="3035244" y="0"/>
                  <a:pt x="3085171" y="49927"/>
                  <a:pt x="3085171" y="111515"/>
                </a:cubicBezTo>
                <a:lnTo>
                  <a:pt x="3085171" y="957144"/>
                </a:lnTo>
                <a:cubicBezTo>
                  <a:pt x="3085171" y="1018732"/>
                  <a:pt x="3035244" y="1068659"/>
                  <a:pt x="2973656" y="1068659"/>
                </a:cubicBezTo>
                <a:lnTo>
                  <a:pt x="111515" y="1068659"/>
                </a:lnTo>
                <a:cubicBezTo>
                  <a:pt x="49927" y="1068659"/>
                  <a:pt x="0" y="1018732"/>
                  <a:pt x="0" y="957144"/>
                </a:cubicBezTo>
                <a:lnTo>
                  <a:pt x="0" y="111515"/>
                </a:lnTo>
                <a:cubicBezTo>
                  <a:pt x="0" y="49968"/>
                  <a:pt x="49968" y="0"/>
                  <a:pt x="111515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25" name="Shape 23"/>
          <p:cNvSpPr/>
          <p:nvPr/>
        </p:nvSpPr>
        <p:spPr>
          <a:xfrm>
            <a:off x="5458507" y="2406805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74341" y="0"/>
                </a:moveTo>
                <a:lnTo>
                  <a:pt x="297366" y="0"/>
                </a:lnTo>
                <a:cubicBezTo>
                  <a:pt x="338424" y="0"/>
                  <a:pt x="371707" y="33284"/>
                  <a:pt x="371707" y="74341"/>
                </a:cubicBezTo>
                <a:lnTo>
                  <a:pt x="371707" y="297366"/>
                </a:lnTo>
                <a:cubicBezTo>
                  <a:pt x="371707" y="338424"/>
                  <a:pt x="338424" y="371707"/>
                  <a:pt x="297366" y="371707"/>
                </a:cubicBezTo>
                <a:lnTo>
                  <a:pt x="74341" y="371707"/>
                </a:lnTo>
                <a:cubicBezTo>
                  <a:pt x="33284" y="371707"/>
                  <a:pt x="0" y="338424"/>
                  <a:pt x="0" y="297366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6" name="Shape 24"/>
          <p:cNvSpPr/>
          <p:nvPr/>
        </p:nvSpPr>
        <p:spPr>
          <a:xfrm>
            <a:off x="5560727" y="2518317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>
                <a:moveTo>
                  <a:pt x="83634" y="9293"/>
                </a:moveTo>
                <a:cubicBezTo>
                  <a:pt x="60170" y="9293"/>
                  <a:pt x="41381" y="19979"/>
                  <a:pt x="27704" y="32699"/>
                </a:cubicBezTo>
                <a:cubicBezTo>
                  <a:pt x="14113" y="45331"/>
                  <a:pt x="5024" y="60402"/>
                  <a:pt x="697" y="70770"/>
                </a:cubicBezTo>
                <a:cubicBezTo>
                  <a:pt x="-261" y="73064"/>
                  <a:pt x="-261" y="75619"/>
                  <a:pt x="697" y="77913"/>
                </a:cubicBezTo>
                <a:cubicBezTo>
                  <a:pt x="5024" y="88280"/>
                  <a:pt x="14113" y="103381"/>
                  <a:pt x="27704" y="115984"/>
                </a:cubicBezTo>
                <a:cubicBezTo>
                  <a:pt x="41381" y="128675"/>
                  <a:pt x="60170" y="139390"/>
                  <a:pt x="83634" y="139390"/>
                </a:cubicBezTo>
                <a:cubicBezTo>
                  <a:pt x="107098" y="139390"/>
                  <a:pt x="125887" y="128704"/>
                  <a:pt x="139564" y="115984"/>
                </a:cubicBezTo>
                <a:cubicBezTo>
                  <a:pt x="153155" y="103352"/>
                  <a:pt x="162244" y="88280"/>
                  <a:pt x="166571" y="77913"/>
                </a:cubicBezTo>
                <a:cubicBezTo>
                  <a:pt x="167530" y="75619"/>
                  <a:pt x="167530" y="73064"/>
                  <a:pt x="166571" y="70770"/>
                </a:cubicBezTo>
                <a:cubicBezTo>
                  <a:pt x="162244" y="60402"/>
                  <a:pt x="153155" y="45302"/>
                  <a:pt x="139564" y="32699"/>
                </a:cubicBezTo>
                <a:cubicBezTo>
                  <a:pt x="125887" y="20008"/>
                  <a:pt x="107098" y="9293"/>
                  <a:pt x="83634" y="9293"/>
                </a:cubicBezTo>
                <a:close/>
                <a:moveTo>
                  <a:pt x="41817" y="74341"/>
                </a:moveTo>
                <a:cubicBezTo>
                  <a:pt x="41817" y="51262"/>
                  <a:pt x="60555" y="32524"/>
                  <a:pt x="83634" y="32524"/>
                </a:cubicBezTo>
                <a:cubicBezTo>
                  <a:pt x="106714" y="32524"/>
                  <a:pt x="125451" y="51262"/>
                  <a:pt x="125451" y="74341"/>
                </a:cubicBezTo>
                <a:cubicBezTo>
                  <a:pt x="125451" y="97421"/>
                  <a:pt x="106714" y="116159"/>
                  <a:pt x="83634" y="116159"/>
                </a:cubicBezTo>
                <a:cubicBezTo>
                  <a:pt x="60555" y="116159"/>
                  <a:pt x="41817" y="97421"/>
                  <a:pt x="41817" y="74341"/>
                </a:cubicBezTo>
                <a:close/>
                <a:moveTo>
                  <a:pt x="83634" y="55756"/>
                </a:moveTo>
                <a:cubicBezTo>
                  <a:pt x="83634" y="66007"/>
                  <a:pt x="75300" y="74341"/>
                  <a:pt x="65049" y="74341"/>
                </a:cubicBezTo>
                <a:cubicBezTo>
                  <a:pt x="61709" y="74341"/>
                  <a:pt x="58573" y="73470"/>
                  <a:pt x="55843" y="71902"/>
                </a:cubicBezTo>
                <a:cubicBezTo>
                  <a:pt x="55553" y="75067"/>
                  <a:pt x="55814" y="78320"/>
                  <a:pt x="56685" y="81543"/>
                </a:cubicBezTo>
                <a:cubicBezTo>
                  <a:pt x="60664" y="96412"/>
                  <a:pt x="75968" y="105240"/>
                  <a:pt x="90836" y="101261"/>
                </a:cubicBezTo>
                <a:cubicBezTo>
                  <a:pt x="105704" y="97283"/>
                  <a:pt x="114532" y="81979"/>
                  <a:pt x="110554" y="67111"/>
                </a:cubicBezTo>
                <a:cubicBezTo>
                  <a:pt x="107011" y="53839"/>
                  <a:pt x="94437" y="45389"/>
                  <a:pt x="81195" y="46551"/>
                </a:cubicBezTo>
                <a:cubicBezTo>
                  <a:pt x="82734" y="49251"/>
                  <a:pt x="83634" y="52388"/>
                  <a:pt x="83634" y="55756"/>
                </a:cubicBezTo>
                <a:close/>
              </a:path>
            </a:pathLst>
          </a:custGeom>
          <a:solidFill>
            <a:srgbClr val="FAFAFA"/>
          </a:solidFill>
        </p:spPr>
      </p:sp>
      <p:sp>
        <p:nvSpPr>
          <p:cNvPr id="27" name="Text 25"/>
          <p:cNvSpPr/>
          <p:nvPr/>
        </p:nvSpPr>
        <p:spPr>
          <a:xfrm>
            <a:off x="5941727" y="2462561"/>
            <a:ext cx="250902" cy="26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58507" y="2890024"/>
            <a:ext cx="2778512" cy="213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问题、状态、证据、建议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04620" y="2220951"/>
            <a:ext cx="3085171" cy="1068659"/>
          </a:xfrm>
          <a:custGeom>
            <a:avLst/>
            <a:gdLst/>
            <a:ahLst/>
            <a:cxnLst/>
            <a:rect l="l" t="t" r="r" b="b"/>
            <a:pathLst>
              <a:path w="3085171" h="1068659">
                <a:moveTo>
                  <a:pt x="111515" y="0"/>
                </a:moveTo>
                <a:lnTo>
                  <a:pt x="2973656" y="0"/>
                </a:lnTo>
                <a:cubicBezTo>
                  <a:pt x="3035244" y="0"/>
                  <a:pt x="3085171" y="49927"/>
                  <a:pt x="3085171" y="111515"/>
                </a:cubicBezTo>
                <a:lnTo>
                  <a:pt x="3085171" y="957144"/>
                </a:lnTo>
                <a:cubicBezTo>
                  <a:pt x="3085171" y="1018732"/>
                  <a:pt x="3035244" y="1068659"/>
                  <a:pt x="2973656" y="1068659"/>
                </a:cubicBezTo>
                <a:lnTo>
                  <a:pt x="111515" y="1068659"/>
                </a:lnTo>
                <a:cubicBezTo>
                  <a:pt x="49927" y="1068659"/>
                  <a:pt x="0" y="1018732"/>
                  <a:pt x="0" y="957144"/>
                </a:cubicBezTo>
                <a:lnTo>
                  <a:pt x="0" y="111515"/>
                </a:lnTo>
                <a:cubicBezTo>
                  <a:pt x="0" y="49968"/>
                  <a:pt x="49968" y="0"/>
                  <a:pt x="111515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0" name="Shape 28"/>
          <p:cNvSpPr/>
          <p:nvPr/>
        </p:nvSpPr>
        <p:spPr>
          <a:xfrm>
            <a:off x="8690474" y="2406805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74341" y="0"/>
                </a:moveTo>
                <a:lnTo>
                  <a:pt x="297366" y="0"/>
                </a:lnTo>
                <a:cubicBezTo>
                  <a:pt x="338424" y="0"/>
                  <a:pt x="371707" y="33284"/>
                  <a:pt x="371707" y="74341"/>
                </a:cubicBezTo>
                <a:lnTo>
                  <a:pt x="371707" y="297366"/>
                </a:lnTo>
                <a:cubicBezTo>
                  <a:pt x="371707" y="338424"/>
                  <a:pt x="338424" y="371707"/>
                  <a:pt x="297366" y="371707"/>
                </a:cubicBezTo>
                <a:lnTo>
                  <a:pt x="74341" y="371707"/>
                </a:lnTo>
                <a:cubicBezTo>
                  <a:pt x="33284" y="371707"/>
                  <a:pt x="0" y="338424"/>
                  <a:pt x="0" y="297366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1" name="Shape 29"/>
          <p:cNvSpPr/>
          <p:nvPr/>
        </p:nvSpPr>
        <p:spPr>
          <a:xfrm>
            <a:off x="8801986" y="2518317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136951" y="6302"/>
                </a:moveTo>
                <a:cubicBezTo>
                  <a:pt x="130591" y="-58"/>
                  <a:pt x="120311" y="-58"/>
                  <a:pt x="113952" y="6302"/>
                </a:cubicBezTo>
                <a:lnTo>
                  <a:pt x="106866" y="13387"/>
                </a:lnTo>
                <a:lnTo>
                  <a:pt x="135296" y="41817"/>
                </a:lnTo>
                <a:lnTo>
                  <a:pt x="142381" y="34731"/>
                </a:lnTo>
                <a:cubicBezTo>
                  <a:pt x="148741" y="28372"/>
                  <a:pt x="148741" y="18092"/>
                  <a:pt x="142381" y="11732"/>
                </a:cubicBezTo>
                <a:lnTo>
                  <a:pt x="136951" y="6302"/>
                </a:lnTo>
                <a:close/>
                <a:moveTo>
                  <a:pt x="50064" y="70189"/>
                </a:moveTo>
                <a:cubicBezTo>
                  <a:pt x="48293" y="71960"/>
                  <a:pt x="46928" y="74138"/>
                  <a:pt x="46144" y="76548"/>
                </a:cubicBezTo>
                <a:lnTo>
                  <a:pt x="37548" y="102336"/>
                </a:lnTo>
                <a:cubicBezTo>
                  <a:pt x="36706" y="104833"/>
                  <a:pt x="37374" y="107592"/>
                  <a:pt x="39233" y="109479"/>
                </a:cubicBezTo>
                <a:cubicBezTo>
                  <a:pt x="41091" y="111367"/>
                  <a:pt x="43850" y="112006"/>
                  <a:pt x="46376" y="111164"/>
                </a:cubicBezTo>
                <a:lnTo>
                  <a:pt x="72163" y="102568"/>
                </a:lnTo>
                <a:cubicBezTo>
                  <a:pt x="74545" y="101784"/>
                  <a:pt x="76723" y="100419"/>
                  <a:pt x="78523" y="98648"/>
                </a:cubicBezTo>
                <a:lnTo>
                  <a:pt x="125451" y="51662"/>
                </a:lnTo>
                <a:lnTo>
                  <a:pt x="97021" y="23232"/>
                </a:lnTo>
                <a:lnTo>
                  <a:pt x="50064" y="70189"/>
                </a:lnTo>
                <a:close/>
                <a:moveTo>
                  <a:pt x="27878" y="18585"/>
                </a:moveTo>
                <a:cubicBezTo>
                  <a:pt x="12487" y="18585"/>
                  <a:pt x="0" y="31072"/>
                  <a:pt x="0" y="46463"/>
                </a:cubicBezTo>
                <a:lnTo>
                  <a:pt x="0" y="120805"/>
                </a:lnTo>
                <a:cubicBezTo>
                  <a:pt x="0" y="136196"/>
                  <a:pt x="12487" y="148683"/>
                  <a:pt x="27878" y="148683"/>
                </a:cubicBezTo>
                <a:lnTo>
                  <a:pt x="102220" y="148683"/>
                </a:lnTo>
                <a:cubicBezTo>
                  <a:pt x="117611" y="148683"/>
                  <a:pt x="130098" y="136196"/>
                  <a:pt x="130098" y="120805"/>
                </a:cubicBezTo>
                <a:lnTo>
                  <a:pt x="130098" y="92927"/>
                </a:lnTo>
                <a:cubicBezTo>
                  <a:pt x="130098" y="87787"/>
                  <a:pt x="125945" y="83634"/>
                  <a:pt x="120805" y="83634"/>
                </a:cubicBezTo>
                <a:cubicBezTo>
                  <a:pt x="115665" y="83634"/>
                  <a:pt x="111512" y="87787"/>
                  <a:pt x="111512" y="92927"/>
                </a:cubicBezTo>
                <a:lnTo>
                  <a:pt x="111512" y="120805"/>
                </a:lnTo>
                <a:cubicBezTo>
                  <a:pt x="111512" y="125945"/>
                  <a:pt x="107360" y="130098"/>
                  <a:pt x="102220" y="130098"/>
                </a:cubicBezTo>
                <a:lnTo>
                  <a:pt x="27878" y="130098"/>
                </a:lnTo>
                <a:cubicBezTo>
                  <a:pt x="22738" y="130098"/>
                  <a:pt x="18585" y="125945"/>
                  <a:pt x="18585" y="120805"/>
                </a:cubicBezTo>
                <a:lnTo>
                  <a:pt x="18585" y="46463"/>
                </a:lnTo>
                <a:cubicBezTo>
                  <a:pt x="18585" y="41323"/>
                  <a:pt x="22738" y="37171"/>
                  <a:pt x="27878" y="37171"/>
                </a:cubicBezTo>
                <a:lnTo>
                  <a:pt x="55756" y="37171"/>
                </a:lnTo>
                <a:cubicBezTo>
                  <a:pt x="60896" y="37171"/>
                  <a:pt x="65049" y="33018"/>
                  <a:pt x="65049" y="27878"/>
                </a:cubicBezTo>
                <a:cubicBezTo>
                  <a:pt x="65049" y="22738"/>
                  <a:pt x="60896" y="18585"/>
                  <a:pt x="55756" y="18585"/>
                </a:cubicBezTo>
                <a:lnTo>
                  <a:pt x="27878" y="18585"/>
                </a:lnTo>
                <a:close/>
              </a:path>
            </a:pathLst>
          </a:custGeom>
          <a:solidFill>
            <a:srgbClr val="FAFAFA"/>
          </a:solidFill>
        </p:spPr>
      </p:sp>
      <p:sp>
        <p:nvSpPr>
          <p:cNvPr id="32" name="Text 30"/>
          <p:cNvSpPr/>
          <p:nvPr/>
        </p:nvSpPr>
        <p:spPr>
          <a:xfrm>
            <a:off x="9173693" y="2462561"/>
            <a:ext cx="250902" cy="26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90474" y="2890024"/>
            <a:ext cx="2778512" cy="213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规则、策略、案例、模板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72654" y="3435970"/>
            <a:ext cx="3085171" cy="1068659"/>
          </a:xfrm>
          <a:custGeom>
            <a:avLst/>
            <a:gdLst/>
            <a:ahLst/>
            <a:cxnLst/>
            <a:rect l="l" t="t" r="r" b="b"/>
            <a:pathLst>
              <a:path w="3085171" h="1068659">
                <a:moveTo>
                  <a:pt x="111515" y="0"/>
                </a:moveTo>
                <a:lnTo>
                  <a:pt x="2973656" y="0"/>
                </a:lnTo>
                <a:cubicBezTo>
                  <a:pt x="3035244" y="0"/>
                  <a:pt x="3085171" y="49927"/>
                  <a:pt x="3085171" y="111515"/>
                </a:cubicBezTo>
                <a:lnTo>
                  <a:pt x="3085171" y="957144"/>
                </a:lnTo>
                <a:cubicBezTo>
                  <a:pt x="3085171" y="1018732"/>
                  <a:pt x="3035244" y="1068659"/>
                  <a:pt x="2973656" y="1068659"/>
                </a:cubicBezTo>
                <a:lnTo>
                  <a:pt x="111515" y="1068659"/>
                </a:lnTo>
                <a:cubicBezTo>
                  <a:pt x="49927" y="1068659"/>
                  <a:pt x="0" y="1018732"/>
                  <a:pt x="0" y="957144"/>
                </a:cubicBezTo>
                <a:lnTo>
                  <a:pt x="0" y="111515"/>
                </a:lnTo>
                <a:cubicBezTo>
                  <a:pt x="0" y="49968"/>
                  <a:pt x="49968" y="0"/>
                  <a:pt x="111515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35" name="Shape 33"/>
          <p:cNvSpPr/>
          <p:nvPr/>
        </p:nvSpPr>
        <p:spPr>
          <a:xfrm>
            <a:off x="5458507" y="3621823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74341" y="0"/>
                </a:moveTo>
                <a:lnTo>
                  <a:pt x="297366" y="0"/>
                </a:lnTo>
                <a:cubicBezTo>
                  <a:pt x="338424" y="0"/>
                  <a:pt x="371707" y="33284"/>
                  <a:pt x="371707" y="74341"/>
                </a:cubicBezTo>
                <a:lnTo>
                  <a:pt x="371707" y="297366"/>
                </a:lnTo>
                <a:cubicBezTo>
                  <a:pt x="371707" y="338424"/>
                  <a:pt x="338424" y="371707"/>
                  <a:pt x="297366" y="371707"/>
                </a:cubicBezTo>
                <a:lnTo>
                  <a:pt x="74341" y="371707"/>
                </a:lnTo>
                <a:cubicBezTo>
                  <a:pt x="33284" y="371707"/>
                  <a:pt x="0" y="338424"/>
                  <a:pt x="0" y="297366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6" name="Shape 34"/>
          <p:cNvSpPr/>
          <p:nvPr/>
        </p:nvSpPr>
        <p:spPr>
          <a:xfrm>
            <a:off x="5579312" y="3733335"/>
            <a:ext cx="130098" cy="148683"/>
          </a:xfrm>
          <a:custGeom>
            <a:avLst/>
            <a:gdLst/>
            <a:ahLst/>
            <a:cxnLst/>
            <a:rect l="l" t="t" r="r" b="b"/>
            <a:pathLst>
              <a:path w="130098" h="148683">
                <a:moveTo>
                  <a:pt x="26484" y="10716"/>
                </a:moveTo>
                <a:cubicBezTo>
                  <a:pt x="22883" y="8741"/>
                  <a:pt x="18527" y="8828"/>
                  <a:pt x="14984" y="10919"/>
                </a:cubicBezTo>
                <a:cubicBezTo>
                  <a:pt x="11442" y="13010"/>
                  <a:pt x="9293" y="16814"/>
                  <a:pt x="9293" y="20909"/>
                </a:cubicBezTo>
                <a:lnTo>
                  <a:pt x="9293" y="127774"/>
                </a:lnTo>
                <a:cubicBezTo>
                  <a:pt x="9293" y="131869"/>
                  <a:pt x="11471" y="135673"/>
                  <a:pt x="14984" y="137764"/>
                </a:cubicBezTo>
                <a:cubicBezTo>
                  <a:pt x="18498" y="139855"/>
                  <a:pt x="22883" y="139942"/>
                  <a:pt x="26484" y="137967"/>
                </a:cubicBezTo>
                <a:lnTo>
                  <a:pt x="124057" y="84534"/>
                </a:lnTo>
                <a:cubicBezTo>
                  <a:pt x="127774" y="82502"/>
                  <a:pt x="130098" y="78581"/>
                  <a:pt x="130098" y="74341"/>
                </a:cubicBezTo>
                <a:cubicBezTo>
                  <a:pt x="130098" y="70102"/>
                  <a:pt x="127774" y="66181"/>
                  <a:pt x="124057" y="64149"/>
                </a:cubicBezTo>
                <a:lnTo>
                  <a:pt x="26484" y="10716"/>
                </a:lnTo>
                <a:close/>
              </a:path>
            </a:pathLst>
          </a:custGeom>
          <a:solidFill>
            <a:srgbClr val="FAFAFA"/>
          </a:solidFill>
        </p:spPr>
      </p:sp>
      <p:sp>
        <p:nvSpPr>
          <p:cNvPr id="37" name="Text 35"/>
          <p:cNvSpPr/>
          <p:nvPr/>
        </p:nvSpPr>
        <p:spPr>
          <a:xfrm>
            <a:off x="5941727" y="3677579"/>
            <a:ext cx="250902" cy="26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跑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58507" y="4105043"/>
            <a:ext cx="2778512" cy="213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任务、动作、执行、审批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04620" y="3435970"/>
            <a:ext cx="3085171" cy="1068659"/>
          </a:xfrm>
          <a:custGeom>
            <a:avLst/>
            <a:gdLst/>
            <a:ahLst/>
            <a:cxnLst/>
            <a:rect l="l" t="t" r="r" b="b"/>
            <a:pathLst>
              <a:path w="3085171" h="1068659">
                <a:moveTo>
                  <a:pt x="111515" y="0"/>
                </a:moveTo>
                <a:lnTo>
                  <a:pt x="2973656" y="0"/>
                </a:lnTo>
                <a:cubicBezTo>
                  <a:pt x="3035244" y="0"/>
                  <a:pt x="3085171" y="49927"/>
                  <a:pt x="3085171" y="111515"/>
                </a:cubicBezTo>
                <a:lnTo>
                  <a:pt x="3085171" y="957144"/>
                </a:lnTo>
                <a:cubicBezTo>
                  <a:pt x="3085171" y="1018732"/>
                  <a:pt x="3035244" y="1068659"/>
                  <a:pt x="2973656" y="1068659"/>
                </a:cubicBezTo>
                <a:lnTo>
                  <a:pt x="111515" y="1068659"/>
                </a:lnTo>
                <a:cubicBezTo>
                  <a:pt x="49927" y="1068659"/>
                  <a:pt x="0" y="1018732"/>
                  <a:pt x="0" y="957144"/>
                </a:cubicBezTo>
                <a:lnTo>
                  <a:pt x="0" y="111515"/>
                </a:lnTo>
                <a:cubicBezTo>
                  <a:pt x="0" y="49968"/>
                  <a:pt x="49968" y="0"/>
                  <a:pt x="111515" y="0"/>
                </a:cubicBezTo>
                <a:close/>
              </a:path>
            </a:pathLst>
          </a:custGeom>
          <a:solidFill>
            <a:srgbClr val="F8F8F8"/>
          </a:solidFill>
        </p:spPr>
      </p:sp>
      <p:sp>
        <p:nvSpPr>
          <p:cNvPr id="40" name="Shape 38"/>
          <p:cNvSpPr/>
          <p:nvPr/>
        </p:nvSpPr>
        <p:spPr>
          <a:xfrm>
            <a:off x="8690474" y="3621823"/>
            <a:ext cx="371707" cy="371707"/>
          </a:xfrm>
          <a:custGeom>
            <a:avLst/>
            <a:gdLst/>
            <a:ahLst/>
            <a:cxnLst/>
            <a:rect l="l" t="t" r="r" b="b"/>
            <a:pathLst>
              <a:path w="371707" h="371707">
                <a:moveTo>
                  <a:pt x="74341" y="0"/>
                </a:moveTo>
                <a:lnTo>
                  <a:pt x="297366" y="0"/>
                </a:lnTo>
                <a:cubicBezTo>
                  <a:pt x="338424" y="0"/>
                  <a:pt x="371707" y="33284"/>
                  <a:pt x="371707" y="74341"/>
                </a:cubicBezTo>
                <a:lnTo>
                  <a:pt x="371707" y="297366"/>
                </a:lnTo>
                <a:cubicBezTo>
                  <a:pt x="371707" y="338424"/>
                  <a:pt x="338424" y="371707"/>
                  <a:pt x="297366" y="371707"/>
                </a:cubicBezTo>
                <a:lnTo>
                  <a:pt x="74341" y="371707"/>
                </a:lnTo>
                <a:cubicBezTo>
                  <a:pt x="33284" y="371707"/>
                  <a:pt x="0" y="338424"/>
                  <a:pt x="0" y="297366"/>
                </a:cubicBezTo>
                <a:lnTo>
                  <a:pt x="0" y="74341"/>
                </a:lnTo>
                <a:cubicBezTo>
                  <a:pt x="0" y="33284"/>
                  <a:pt x="33284" y="0"/>
                  <a:pt x="74341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1" name="Shape 39"/>
          <p:cNvSpPr/>
          <p:nvPr/>
        </p:nvSpPr>
        <p:spPr>
          <a:xfrm>
            <a:off x="8801986" y="3733335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18585" y="18585"/>
                </a:moveTo>
                <a:cubicBezTo>
                  <a:pt x="18585" y="13445"/>
                  <a:pt x="14433" y="9293"/>
                  <a:pt x="9293" y="9293"/>
                </a:cubicBezTo>
                <a:cubicBezTo>
                  <a:pt x="4153" y="9293"/>
                  <a:pt x="0" y="13445"/>
                  <a:pt x="0" y="18585"/>
                </a:cubicBezTo>
                <a:lnTo>
                  <a:pt x="0" y="116159"/>
                </a:lnTo>
                <a:cubicBezTo>
                  <a:pt x="0" y="128994"/>
                  <a:pt x="10396" y="139390"/>
                  <a:pt x="23232" y="139390"/>
                </a:cubicBezTo>
                <a:lnTo>
                  <a:pt x="139390" y="139390"/>
                </a:lnTo>
                <a:cubicBezTo>
                  <a:pt x="144530" y="139390"/>
                  <a:pt x="148683" y="135238"/>
                  <a:pt x="148683" y="130098"/>
                </a:cubicBezTo>
                <a:cubicBezTo>
                  <a:pt x="148683" y="124958"/>
                  <a:pt x="144530" y="120805"/>
                  <a:pt x="139390" y="120805"/>
                </a:cubicBezTo>
                <a:lnTo>
                  <a:pt x="23232" y="120805"/>
                </a:lnTo>
                <a:cubicBezTo>
                  <a:pt x="20676" y="120805"/>
                  <a:pt x="18585" y="118714"/>
                  <a:pt x="18585" y="116159"/>
                </a:cubicBezTo>
                <a:lnTo>
                  <a:pt x="18585" y="18585"/>
                </a:lnTo>
                <a:close/>
                <a:moveTo>
                  <a:pt x="136661" y="43734"/>
                </a:moveTo>
                <a:cubicBezTo>
                  <a:pt x="140290" y="40104"/>
                  <a:pt x="140290" y="34209"/>
                  <a:pt x="136661" y="30579"/>
                </a:cubicBezTo>
                <a:cubicBezTo>
                  <a:pt x="133031" y="26949"/>
                  <a:pt x="127136" y="26949"/>
                  <a:pt x="123506" y="30579"/>
                </a:cubicBezTo>
                <a:lnTo>
                  <a:pt x="92927" y="61187"/>
                </a:lnTo>
                <a:lnTo>
                  <a:pt x="76258" y="44547"/>
                </a:lnTo>
                <a:cubicBezTo>
                  <a:pt x="72628" y="40917"/>
                  <a:pt x="66733" y="40917"/>
                  <a:pt x="63103" y="44547"/>
                </a:cubicBezTo>
                <a:lnTo>
                  <a:pt x="35225" y="72425"/>
                </a:lnTo>
                <a:cubicBezTo>
                  <a:pt x="31595" y="76055"/>
                  <a:pt x="31595" y="81950"/>
                  <a:pt x="35225" y="85580"/>
                </a:cubicBezTo>
                <a:cubicBezTo>
                  <a:pt x="38855" y="89210"/>
                  <a:pt x="44750" y="89210"/>
                  <a:pt x="48380" y="85580"/>
                </a:cubicBezTo>
                <a:lnTo>
                  <a:pt x="69695" y="64265"/>
                </a:lnTo>
                <a:lnTo>
                  <a:pt x="86364" y="80933"/>
                </a:lnTo>
                <a:cubicBezTo>
                  <a:pt x="89994" y="84563"/>
                  <a:pt x="95889" y="84563"/>
                  <a:pt x="99519" y="80933"/>
                </a:cubicBezTo>
                <a:lnTo>
                  <a:pt x="136690" y="43763"/>
                </a:lnTo>
                <a:close/>
              </a:path>
            </a:pathLst>
          </a:custGeom>
          <a:solidFill>
            <a:srgbClr val="FAFAFA"/>
          </a:solidFill>
        </p:spPr>
      </p:sp>
      <p:sp>
        <p:nvSpPr>
          <p:cNvPr id="42" name="Text 40"/>
          <p:cNvSpPr/>
          <p:nvPr/>
        </p:nvSpPr>
        <p:spPr>
          <a:xfrm>
            <a:off x="9173693" y="3677579"/>
            <a:ext cx="418171" cy="26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复盘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90474" y="4105043"/>
            <a:ext cx="2778512" cy="213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结果、经验、评测、版本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40337" y="5380463"/>
            <a:ext cx="6783659" cy="1477537"/>
          </a:xfrm>
          <a:custGeom>
            <a:avLst/>
            <a:gdLst/>
            <a:ahLst/>
            <a:cxnLst/>
            <a:rect l="l" t="t" r="r" b="b"/>
            <a:pathLst>
              <a:path w="6783659" h="1477537">
                <a:moveTo>
                  <a:pt x="148685" y="0"/>
                </a:moveTo>
                <a:lnTo>
                  <a:pt x="6634974" y="0"/>
                </a:lnTo>
                <a:cubicBezTo>
                  <a:pt x="6717090" y="0"/>
                  <a:pt x="6783659" y="66568"/>
                  <a:pt x="6783659" y="148685"/>
                </a:cubicBezTo>
                <a:lnTo>
                  <a:pt x="6783659" y="1328852"/>
                </a:lnTo>
                <a:cubicBezTo>
                  <a:pt x="6783659" y="1410968"/>
                  <a:pt x="6717090" y="1477537"/>
                  <a:pt x="6634974" y="1477537"/>
                </a:cubicBezTo>
                <a:lnTo>
                  <a:pt x="148685" y="1477537"/>
                </a:lnTo>
                <a:cubicBezTo>
                  <a:pt x="66568" y="1477537"/>
                  <a:pt x="0" y="1410968"/>
                  <a:pt x="0" y="1328852"/>
                </a:cubicBezTo>
                <a:lnTo>
                  <a:pt x="0" y="148685"/>
                </a:lnTo>
                <a:cubicBezTo>
                  <a:pt x="0" y="66623"/>
                  <a:pt x="66623" y="0"/>
                  <a:pt x="148685" y="0"/>
                </a:cubicBezTo>
                <a:close/>
              </a:path>
            </a:pathLst>
          </a:custGeom>
          <a:solidFill>
            <a:srgbClr val="1D1D1D"/>
          </a:solidFill>
        </p:spPr>
      </p:sp>
      <p:sp>
        <p:nvSpPr>
          <p:cNvPr id="45" name="Shape 43"/>
          <p:cNvSpPr/>
          <p:nvPr/>
        </p:nvSpPr>
        <p:spPr>
          <a:xfrm>
            <a:off x="5263361" y="5603488"/>
            <a:ext cx="520390" cy="520390"/>
          </a:xfrm>
          <a:custGeom>
            <a:avLst/>
            <a:gdLst/>
            <a:ahLst/>
            <a:cxnLst/>
            <a:rect l="l" t="t" r="r" b="b"/>
            <a:pathLst>
              <a:path w="520390" h="520390">
                <a:moveTo>
                  <a:pt x="111514" y="0"/>
                </a:moveTo>
                <a:lnTo>
                  <a:pt x="408876" y="0"/>
                </a:lnTo>
                <a:cubicBezTo>
                  <a:pt x="470464" y="0"/>
                  <a:pt x="520390" y="49927"/>
                  <a:pt x="520390" y="111514"/>
                </a:cubicBezTo>
                <a:lnTo>
                  <a:pt x="520390" y="408876"/>
                </a:lnTo>
                <a:cubicBezTo>
                  <a:pt x="520390" y="470464"/>
                  <a:pt x="470464" y="520390"/>
                  <a:pt x="408876" y="520390"/>
                </a:cubicBezTo>
                <a:lnTo>
                  <a:pt x="111514" y="520390"/>
                </a:lnTo>
                <a:cubicBezTo>
                  <a:pt x="49927" y="520390"/>
                  <a:pt x="0" y="470464"/>
                  <a:pt x="0" y="408876"/>
                </a:cubicBezTo>
                <a:lnTo>
                  <a:pt x="0" y="111514"/>
                </a:lnTo>
                <a:cubicBezTo>
                  <a:pt x="0" y="49968"/>
                  <a:pt x="49968" y="0"/>
                  <a:pt x="111514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46" name="Shape 44"/>
          <p:cNvSpPr/>
          <p:nvPr/>
        </p:nvSpPr>
        <p:spPr>
          <a:xfrm>
            <a:off x="5398105" y="5752171"/>
            <a:ext cx="250902" cy="223024"/>
          </a:xfrm>
          <a:custGeom>
            <a:avLst/>
            <a:gdLst/>
            <a:ahLst/>
            <a:cxnLst/>
            <a:rect l="l" t="t" r="r" b="b"/>
            <a:pathLst>
              <a:path w="250902" h="223024">
                <a:moveTo>
                  <a:pt x="134817" y="-8233"/>
                </a:moveTo>
                <a:cubicBezTo>
                  <a:pt x="133031" y="-11717"/>
                  <a:pt x="129415" y="-13939"/>
                  <a:pt x="125495" y="-13939"/>
                </a:cubicBezTo>
                <a:cubicBezTo>
                  <a:pt x="121574" y="-13939"/>
                  <a:pt x="117959" y="-11717"/>
                  <a:pt x="116173" y="-8233"/>
                </a:cubicBezTo>
                <a:lnTo>
                  <a:pt x="84113" y="54580"/>
                </a:lnTo>
                <a:lnTo>
                  <a:pt x="14462" y="65644"/>
                </a:lnTo>
                <a:cubicBezTo>
                  <a:pt x="10585" y="66254"/>
                  <a:pt x="7362" y="68998"/>
                  <a:pt x="6142" y="72744"/>
                </a:cubicBezTo>
                <a:cubicBezTo>
                  <a:pt x="4922" y="76490"/>
                  <a:pt x="5924" y="80585"/>
                  <a:pt x="8668" y="83373"/>
                </a:cubicBezTo>
                <a:lnTo>
                  <a:pt x="58500" y="133248"/>
                </a:lnTo>
                <a:lnTo>
                  <a:pt x="47523" y="202900"/>
                </a:lnTo>
                <a:cubicBezTo>
                  <a:pt x="46914" y="206777"/>
                  <a:pt x="48525" y="210697"/>
                  <a:pt x="51705" y="213006"/>
                </a:cubicBezTo>
                <a:cubicBezTo>
                  <a:pt x="54885" y="215314"/>
                  <a:pt x="59067" y="215663"/>
                  <a:pt x="62595" y="213877"/>
                </a:cubicBezTo>
                <a:lnTo>
                  <a:pt x="125495" y="181904"/>
                </a:lnTo>
                <a:lnTo>
                  <a:pt x="188351" y="213877"/>
                </a:lnTo>
                <a:cubicBezTo>
                  <a:pt x="191836" y="215663"/>
                  <a:pt x="196061" y="215314"/>
                  <a:pt x="199241" y="213006"/>
                </a:cubicBezTo>
                <a:cubicBezTo>
                  <a:pt x="202421" y="210697"/>
                  <a:pt x="204032" y="206820"/>
                  <a:pt x="203423" y="202900"/>
                </a:cubicBezTo>
                <a:lnTo>
                  <a:pt x="192402" y="133248"/>
                </a:lnTo>
                <a:lnTo>
                  <a:pt x="242234" y="83373"/>
                </a:lnTo>
                <a:cubicBezTo>
                  <a:pt x="245022" y="80585"/>
                  <a:pt x="245980" y="76490"/>
                  <a:pt x="244761" y="72744"/>
                </a:cubicBezTo>
                <a:cubicBezTo>
                  <a:pt x="243541" y="68998"/>
                  <a:pt x="240361" y="66254"/>
                  <a:pt x="236441" y="65644"/>
                </a:cubicBezTo>
                <a:lnTo>
                  <a:pt x="166833" y="54580"/>
                </a:lnTo>
                <a:lnTo>
                  <a:pt x="134817" y="-8233"/>
                </a:lnTo>
                <a:close/>
              </a:path>
            </a:pathLst>
          </a:custGeom>
          <a:solidFill>
            <a:srgbClr val="FAFAFA"/>
          </a:solidFill>
        </p:spPr>
      </p:sp>
      <p:sp>
        <p:nvSpPr>
          <p:cNvPr id="47" name="Text 45"/>
          <p:cNvSpPr/>
          <p:nvPr/>
        </p:nvSpPr>
        <p:spPr>
          <a:xfrm>
            <a:off x="5969605" y="5603488"/>
            <a:ext cx="3456878" cy="2973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5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69605" y="6012366"/>
            <a:ext cx="3438293" cy="306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5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形成企业统一操作入口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969605" y="6388720"/>
            <a:ext cx="3419707" cy="241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让业务、运营、产品和 AI 在同一个界面里协同工作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SYSTEM RELATIONSHIP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96700" cy="666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三者关系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657350"/>
            <a:ext cx="11430000" cy="1790700"/>
          </a:xfrm>
          <a:custGeom>
            <a:avLst/>
            <a:gdLst/>
            <a:ahLst/>
            <a:cxnLst/>
            <a:rect l="l" t="t" r="r" b="b"/>
            <a:pathLst>
              <a:path w="11430000" h="1790700">
                <a:moveTo>
                  <a:pt x="228601" y="0"/>
                </a:moveTo>
                <a:lnTo>
                  <a:pt x="11201399" y="0"/>
                </a:lnTo>
                <a:cubicBezTo>
                  <a:pt x="11327652" y="0"/>
                  <a:pt x="11430000" y="102348"/>
                  <a:pt x="11430000" y="228601"/>
                </a:cubicBezTo>
                <a:lnTo>
                  <a:pt x="11430000" y="1562099"/>
                </a:lnTo>
                <a:cubicBezTo>
                  <a:pt x="11430000" y="1688352"/>
                  <a:pt x="11327652" y="1790700"/>
                  <a:pt x="11201399" y="1790700"/>
                </a:cubicBezTo>
                <a:lnTo>
                  <a:pt x="228601" y="1790700"/>
                </a:lnTo>
                <a:cubicBezTo>
                  <a:pt x="102348" y="1790700"/>
                  <a:pt x="0" y="1688352"/>
                  <a:pt x="0" y="1562099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solidFill>
            <a:srgbClr val="1D1D1D"/>
          </a:solidFill>
        </p:spPr>
      </p:sp>
      <p:sp>
        <p:nvSpPr>
          <p:cNvPr id="5" name="Text 3"/>
          <p:cNvSpPr/>
          <p:nvPr/>
        </p:nvSpPr>
        <p:spPr>
          <a:xfrm>
            <a:off x="676275" y="2038350"/>
            <a:ext cx="10839450" cy="1028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70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本体建设负责</a:t>
            </a:r>
            <a:r>
              <a:rPr lang="en-US" sz="27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"说清楚"</a:t>
            </a:r>
            <a:r>
              <a:rPr lang="en-US" sz="270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 本体大脑负责</a:t>
            </a:r>
            <a:r>
              <a:rPr lang="en-US" sz="27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"想明白"</a:t>
            </a:r>
            <a:r>
              <a:rPr lang="en-US" sz="270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 工作台 负责</a:t>
            </a:r>
            <a:r>
              <a:rPr lang="en-US" sz="27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"跑起来"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3757613"/>
            <a:ext cx="3648075" cy="2933700"/>
          </a:xfrm>
          <a:custGeom>
            <a:avLst/>
            <a:gdLst/>
            <a:ahLst/>
            <a:cxnLst/>
            <a:rect l="l" t="t" r="r" b="b"/>
            <a:pathLst>
              <a:path w="3648075" h="2933700">
                <a:moveTo>
                  <a:pt x="152406" y="0"/>
                </a:moveTo>
                <a:lnTo>
                  <a:pt x="3495669" y="0"/>
                </a:lnTo>
                <a:cubicBezTo>
                  <a:pt x="3579784" y="0"/>
                  <a:pt x="3648075" y="68291"/>
                  <a:pt x="3648075" y="152406"/>
                </a:cubicBezTo>
                <a:lnTo>
                  <a:pt x="3648075" y="2781294"/>
                </a:lnTo>
                <a:cubicBezTo>
                  <a:pt x="3648075" y="2865409"/>
                  <a:pt x="3579784" y="2933700"/>
                  <a:pt x="3495669" y="2933700"/>
                </a:cubicBezTo>
                <a:lnTo>
                  <a:pt x="152406" y="2933700"/>
                </a:lnTo>
                <a:cubicBezTo>
                  <a:pt x="68291" y="2933700"/>
                  <a:pt x="0" y="2865409"/>
                  <a:pt x="0" y="2781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5325" y="4067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D1D1D"/>
          </a:solidFill>
        </p:spPr>
      </p:sp>
      <p:sp>
        <p:nvSpPr>
          <p:cNvPr id="8" name="Text 6"/>
          <p:cNvSpPr/>
          <p:nvPr/>
        </p:nvSpPr>
        <p:spPr>
          <a:xfrm>
            <a:off x="845418" y="4181475"/>
            <a:ext cx="342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418147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本体建设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4375" y="4848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11" name="Text 9"/>
          <p:cNvSpPr/>
          <p:nvPr/>
        </p:nvSpPr>
        <p:spPr>
          <a:xfrm>
            <a:off x="976312" y="4791075"/>
            <a:ext cx="2362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把分散知识整理成统一对象和规则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4375" y="5210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13" name="Text 11"/>
          <p:cNvSpPr/>
          <p:nvPr/>
        </p:nvSpPr>
        <p:spPr>
          <a:xfrm>
            <a:off x="976312" y="5153025"/>
            <a:ext cx="1752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建立企业级经营语义标准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4375" y="5572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15" name="Text 13"/>
          <p:cNvSpPr/>
          <p:nvPr/>
        </p:nvSpPr>
        <p:spPr>
          <a:xfrm>
            <a:off x="976312" y="5514975"/>
            <a:ext cx="1752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消除信息孤岛和沟通障碍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5325" y="5957888"/>
            <a:ext cx="3028950" cy="9525"/>
          </a:xfrm>
          <a:custGeom>
            <a:avLst/>
            <a:gdLst/>
            <a:ahLst/>
            <a:cxnLst/>
            <a:rect l="l" t="t" r="r" b="b"/>
            <a:pathLst>
              <a:path w="3028950" h="9525">
                <a:moveTo>
                  <a:pt x="0" y="0"/>
                </a:moveTo>
                <a:lnTo>
                  <a:pt x="3028950" y="0"/>
                </a:lnTo>
                <a:lnTo>
                  <a:pt x="3028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17" name="Text 15"/>
          <p:cNvSpPr/>
          <p:nvPr/>
        </p:nvSpPr>
        <p:spPr>
          <a:xfrm>
            <a:off x="695325" y="6153150"/>
            <a:ext cx="3105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输出：统一经营语言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71963" y="3757613"/>
            <a:ext cx="3648075" cy="2933700"/>
          </a:xfrm>
          <a:custGeom>
            <a:avLst/>
            <a:gdLst/>
            <a:ahLst/>
            <a:cxnLst/>
            <a:rect l="l" t="t" r="r" b="b"/>
            <a:pathLst>
              <a:path w="3648075" h="2933700">
                <a:moveTo>
                  <a:pt x="152406" y="0"/>
                </a:moveTo>
                <a:lnTo>
                  <a:pt x="3495669" y="0"/>
                </a:lnTo>
                <a:cubicBezTo>
                  <a:pt x="3579784" y="0"/>
                  <a:pt x="3648075" y="68291"/>
                  <a:pt x="3648075" y="152406"/>
                </a:cubicBezTo>
                <a:lnTo>
                  <a:pt x="3648075" y="2781294"/>
                </a:lnTo>
                <a:cubicBezTo>
                  <a:pt x="3648075" y="2865409"/>
                  <a:pt x="3579784" y="2933700"/>
                  <a:pt x="3495669" y="2933700"/>
                </a:cubicBezTo>
                <a:lnTo>
                  <a:pt x="152406" y="2933700"/>
                </a:lnTo>
                <a:cubicBezTo>
                  <a:pt x="68291" y="2933700"/>
                  <a:pt x="0" y="2865409"/>
                  <a:pt x="0" y="2781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1525" y="4067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0" name="Text 18"/>
          <p:cNvSpPr/>
          <p:nvPr/>
        </p:nvSpPr>
        <p:spPr>
          <a:xfrm>
            <a:off x="4712271" y="4181475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67325" y="418147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本体大脑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00575" y="4848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3" name="Text 21"/>
          <p:cNvSpPr/>
          <p:nvPr/>
        </p:nvSpPr>
        <p:spPr>
          <a:xfrm>
            <a:off x="4862513" y="4791075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把对象和规则编译成判断、建议和动作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00575" y="5210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5" name="Text 23"/>
          <p:cNvSpPr/>
          <p:nvPr/>
        </p:nvSpPr>
        <p:spPr>
          <a:xfrm>
            <a:off x="4862513" y="5153025"/>
            <a:ext cx="2209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智能理解问题并生成可执行方案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00575" y="5572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7" name="Text 25"/>
          <p:cNvSpPr/>
          <p:nvPr/>
        </p:nvSpPr>
        <p:spPr>
          <a:xfrm>
            <a:off x="4862513" y="5514975"/>
            <a:ext cx="1752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持续沉淀和优化决策资产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81525" y="5957888"/>
            <a:ext cx="3028950" cy="9525"/>
          </a:xfrm>
          <a:custGeom>
            <a:avLst/>
            <a:gdLst/>
            <a:ahLst/>
            <a:cxnLst/>
            <a:rect l="l" t="t" r="r" b="b"/>
            <a:pathLst>
              <a:path w="3028950" h="9525">
                <a:moveTo>
                  <a:pt x="0" y="0"/>
                </a:moveTo>
                <a:lnTo>
                  <a:pt x="3028950" y="0"/>
                </a:lnTo>
                <a:lnTo>
                  <a:pt x="3028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29" name="Text 27"/>
          <p:cNvSpPr/>
          <p:nvPr/>
        </p:nvSpPr>
        <p:spPr>
          <a:xfrm>
            <a:off x="4581525" y="6153150"/>
            <a:ext cx="3105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输出：统一决策中枢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58163" y="3757613"/>
            <a:ext cx="3648075" cy="2933700"/>
          </a:xfrm>
          <a:custGeom>
            <a:avLst/>
            <a:gdLst/>
            <a:ahLst/>
            <a:cxnLst/>
            <a:rect l="l" t="t" r="r" b="b"/>
            <a:pathLst>
              <a:path w="3648075" h="2933700">
                <a:moveTo>
                  <a:pt x="152406" y="0"/>
                </a:moveTo>
                <a:lnTo>
                  <a:pt x="3495669" y="0"/>
                </a:lnTo>
                <a:cubicBezTo>
                  <a:pt x="3579784" y="0"/>
                  <a:pt x="3648075" y="68291"/>
                  <a:pt x="3648075" y="152406"/>
                </a:cubicBezTo>
                <a:lnTo>
                  <a:pt x="3648075" y="2781294"/>
                </a:lnTo>
                <a:cubicBezTo>
                  <a:pt x="3648075" y="2865409"/>
                  <a:pt x="3579784" y="2933700"/>
                  <a:pt x="3495669" y="2933700"/>
                </a:cubicBezTo>
                <a:lnTo>
                  <a:pt x="152406" y="2933700"/>
                </a:lnTo>
                <a:cubicBezTo>
                  <a:pt x="68291" y="2933700"/>
                  <a:pt x="0" y="2865409"/>
                  <a:pt x="0" y="27812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67725" y="4067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6868B"/>
          </a:solidFill>
        </p:spPr>
      </p:sp>
      <p:sp>
        <p:nvSpPr>
          <p:cNvPr id="32" name="Text 30"/>
          <p:cNvSpPr/>
          <p:nvPr/>
        </p:nvSpPr>
        <p:spPr>
          <a:xfrm>
            <a:off x="8595494" y="4181475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53525" y="4181475"/>
            <a:ext cx="13525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86775" y="4848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35" name="Text 33"/>
          <p:cNvSpPr/>
          <p:nvPr/>
        </p:nvSpPr>
        <p:spPr>
          <a:xfrm>
            <a:off x="8748713" y="4791075"/>
            <a:ext cx="2438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让业务、运营、产品和 AI 共同协作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86775" y="5210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37" name="Text 35"/>
          <p:cNvSpPr/>
          <p:nvPr/>
        </p:nvSpPr>
        <p:spPr>
          <a:xfrm>
            <a:off x="8748713" y="5153025"/>
            <a:ext cx="2057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完成查看、修正、执行和复盘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86775" y="5572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39" name="Text 37"/>
          <p:cNvSpPr/>
          <p:nvPr/>
        </p:nvSpPr>
        <p:spPr>
          <a:xfrm>
            <a:off x="8748713" y="5514975"/>
            <a:ext cx="1752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实现人机协同的闭环运营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67725" y="5957888"/>
            <a:ext cx="3028950" cy="9525"/>
          </a:xfrm>
          <a:custGeom>
            <a:avLst/>
            <a:gdLst/>
            <a:ahLst/>
            <a:cxnLst/>
            <a:rect l="l" t="t" r="r" b="b"/>
            <a:pathLst>
              <a:path w="3028950" h="9525">
                <a:moveTo>
                  <a:pt x="0" y="0"/>
                </a:moveTo>
                <a:lnTo>
                  <a:pt x="3028950" y="0"/>
                </a:lnTo>
                <a:lnTo>
                  <a:pt x="3028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41" name="Text 39"/>
          <p:cNvSpPr/>
          <p:nvPr/>
        </p:nvSpPr>
        <p:spPr>
          <a:xfrm>
            <a:off x="8467725" y="6153150"/>
            <a:ext cx="3105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输出：统一操作入口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kern="0" spc="192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626570"/>
            <a:ext cx="11739478" cy="609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35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给企业带来的本质变化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2445" y="1518561"/>
            <a:ext cx="5630424" cy="2558493"/>
          </a:xfrm>
          <a:custGeom>
            <a:avLst/>
            <a:gdLst/>
            <a:ahLst/>
            <a:cxnLst/>
            <a:rect l="l" t="t" r="r" b="b"/>
            <a:pathLst>
              <a:path w="5630424" h="2558493">
                <a:moveTo>
                  <a:pt x="139233" y="0"/>
                </a:moveTo>
                <a:lnTo>
                  <a:pt x="5491191" y="0"/>
                </a:lnTo>
                <a:cubicBezTo>
                  <a:pt x="5568087" y="0"/>
                  <a:pt x="5630424" y="62337"/>
                  <a:pt x="5630424" y="139233"/>
                </a:cubicBezTo>
                <a:lnTo>
                  <a:pt x="5630424" y="2419259"/>
                </a:lnTo>
                <a:cubicBezTo>
                  <a:pt x="5630424" y="2496156"/>
                  <a:pt x="5568087" y="2558493"/>
                  <a:pt x="5491191" y="2558493"/>
                </a:cubicBezTo>
                <a:lnTo>
                  <a:pt x="139233" y="2558493"/>
                </a:lnTo>
                <a:cubicBezTo>
                  <a:pt x="62337" y="2558493"/>
                  <a:pt x="0" y="2496156"/>
                  <a:pt x="0" y="2419259"/>
                </a:cubicBezTo>
                <a:lnTo>
                  <a:pt x="0" y="139233"/>
                </a:lnTo>
                <a:cubicBezTo>
                  <a:pt x="0" y="62388"/>
                  <a:pt x="62388" y="0"/>
                  <a:pt x="13923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272" y="1801388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139238" y="0"/>
                </a:moveTo>
                <a:lnTo>
                  <a:pt x="417713" y="0"/>
                </a:lnTo>
                <a:cubicBezTo>
                  <a:pt x="494560" y="0"/>
                  <a:pt x="556951" y="62390"/>
                  <a:pt x="556951" y="139238"/>
                </a:cubicBezTo>
                <a:lnTo>
                  <a:pt x="556951" y="417713"/>
                </a:lnTo>
                <a:cubicBezTo>
                  <a:pt x="556951" y="494560"/>
                  <a:pt x="494560" y="556951"/>
                  <a:pt x="417713" y="556951"/>
                </a:cubicBezTo>
                <a:lnTo>
                  <a:pt x="139238" y="556951"/>
                </a:lnTo>
                <a:cubicBezTo>
                  <a:pt x="62390" y="556951"/>
                  <a:pt x="0" y="494560"/>
                  <a:pt x="0" y="417713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6" name="Text 4"/>
          <p:cNvSpPr/>
          <p:nvPr/>
        </p:nvSpPr>
        <p:spPr>
          <a:xfrm>
            <a:off x="780560" y="1923221"/>
            <a:ext cx="400308" cy="313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5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66270" y="1801388"/>
            <a:ext cx="2393148" cy="365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2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从"靠人懂"到"组织懂"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66270" y="2236505"/>
            <a:ext cx="417713" cy="17405"/>
          </a:xfrm>
          <a:custGeom>
            <a:avLst/>
            <a:gdLst/>
            <a:ahLst/>
            <a:cxnLst/>
            <a:rect l="l" t="t" r="r" b="b"/>
            <a:pathLst>
              <a:path w="417713" h="17405">
                <a:moveTo>
                  <a:pt x="0" y="0"/>
                </a:moveTo>
                <a:lnTo>
                  <a:pt x="417713" y="0"/>
                </a:lnTo>
                <a:lnTo>
                  <a:pt x="417713" y="17405"/>
                </a:lnTo>
                <a:lnTo>
                  <a:pt x="0" y="17405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9" name="Text 7"/>
          <p:cNvSpPr/>
          <p:nvPr/>
        </p:nvSpPr>
        <p:spPr>
          <a:xfrm>
            <a:off x="635272" y="2532385"/>
            <a:ext cx="5151794" cy="287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经验不再只在专家脑子里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272" y="2954450"/>
            <a:ext cx="5143092" cy="252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而是沉淀为企业可复用资产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272" y="3387392"/>
            <a:ext cx="5064771" cy="8702"/>
          </a:xfrm>
          <a:custGeom>
            <a:avLst/>
            <a:gdLst/>
            <a:ahLst/>
            <a:cxnLst/>
            <a:rect l="l" t="t" r="r" b="b"/>
            <a:pathLst>
              <a:path w="5064771" h="8702">
                <a:moveTo>
                  <a:pt x="0" y="0"/>
                </a:moveTo>
                <a:lnTo>
                  <a:pt x="5064771" y="0"/>
                </a:lnTo>
                <a:lnTo>
                  <a:pt x="5064771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12" name="Text 10"/>
          <p:cNvSpPr/>
          <p:nvPr/>
        </p:nvSpPr>
        <p:spPr>
          <a:xfrm>
            <a:off x="635272" y="3565790"/>
            <a:ext cx="5134390" cy="2262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知识从个人经验转化为组织能力，降低对个别专家的依赖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4236" y="1518561"/>
            <a:ext cx="5630424" cy="2558493"/>
          </a:xfrm>
          <a:custGeom>
            <a:avLst/>
            <a:gdLst/>
            <a:ahLst/>
            <a:cxnLst/>
            <a:rect l="l" t="t" r="r" b="b"/>
            <a:pathLst>
              <a:path w="5630424" h="2558493">
                <a:moveTo>
                  <a:pt x="139233" y="0"/>
                </a:moveTo>
                <a:lnTo>
                  <a:pt x="5491191" y="0"/>
                </a:lnTo>
                <a:cubicBezTo>
                  <a:pt x="5568087" y="0"/>
                  <a:pt x="5630424" y="62337"/>
                  <a:pt x="5630424" y="139233"/>
                </a:cubicBezTo>
                <a:lnTo>
                  <a:pt x="5630424" y="2419259"/>
                </a:lnTo>
                <a:cubicBezTo>
                  <a:pt x="5630424" y="2496156"/>
                  <a:pt x="5568087" y="2558493"/>
                  <a:pt x="5491191" y="2558493"/>
                </a:cubicBezTo>
                <a:lnTo>
                  <a:pt x="139233" y="2558493"/>
                </a:lnTo>
                <a:cubicBezTo>
                  <a:pt x="62337" y="2558493"/>
                  <a:pt x="0" y="2496156"/>
                  <a:pt x="0" y="2419259"/>
                </a:cubicBezTo>
                <a:lnTo>
                  <a:pt x="0" y="139233"/>
                </a:lnTo>
                <a:cubicBezTo>
                  <a:pt x="0" y="62388"/>
                  <a:pt x="62388" y="0"/>
                  <a:pt x="13923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7062" y="1801388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139238" y="0"/>
                </a:moveTo>
                <a:lnTo>
                  <a:pt x="417713" y="0"/>
                </a:lnTo>
                <a:cubicBezTo>
                  <a:pt x="494560" y="0"/>
                  <a:pt x="556951" y="62390"/>
                  <a:pt x="556951" y="139238"/>
                </a:cubicBezTo>
                <a:lnTo>
                  <a:pt x="556951" y="417713"/>
                </a:lnTo>
                <a:cubicBezTo>
                  <a:pt x="556951" y="494560"/>
                  <a:pt x="494560" y="556951"/>
                  <a:pt x="417713" y="556951"/>
                </a:cubicBezTo>
                <a:lnTo>
                  <a:pt x="139238" y="556951"/>
                </a:lnTo>
                <a:cubicBezTo>
                  <a:pt x="62390" y="556951"/>
                  <a:pt x="0" y="494560"/>
                  <a:pt x="0" y="417713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15" name="Text 13"/>
          <p:cNvSpPr/>
          <p:nvPr/>
        </p:nvSpPr>
        <p:spPr>
          <a:xfrm>
            <a:off x="6610323" y="1923221"/>
            <a:ext cx="443820" cy="313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5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18060" y="1801388"/>
            <a:ext cx="2393148" cy="365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2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从"看报表"到"拿方案"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18060" y="2236505"/>
            <a:ext cx="417713" cy="17405"/>
          </a:xfrm>
          <a:custGeom>
            <a:avLst/>
            <a:gdLst/>
            <a:ahLst/>
            <a:cxnLst/>
            <a:rect l="l" t="t" r="r" b="b"/>
            <a:pathLst>
              <a:path w="417713" h="17405">
                <a:moveTo>
                  <a:pt x="0" y="0"/>
                </a:moveTo>
                <a:lnTo>
                  <a:pt x="417713" y="0"/>
                </a:lnTo>
                <a:lnTo>
                  <a:pt x="417713" y="17405"/>
                </a:lnTo>
                <a:lnTo>
                  <a:pt x="0" y="17405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18" name="Text 16"/>
          <p:cNvSpPr/>
          <p:nvPr/>
        </p:nvSpPr>
        <p:spPr>
          <a:xfrm>
            <a:off x="6487062" y="2532385"/>
            <a:ext cx="5151794" cy="287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系统不只告诉你发生了什么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87062" y="2954450"/>
            <a:ext cx="5143092" cy="252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还告诉你接下来该做什么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87062" y="3387392"/>
            <a:ext cx="5064771" cy="8702"/>
          </a:xfrm>
          <a:custGeom>
            <a:avLst/>
            <a:gdLst/>
            <a:ahLst/>
            <a:cxnLst/>
            <a:rect l="l" t="t" r="r" b="b"/>
            <a:pathLst>
              <a:path w="5064771" h="8702">
                <a:moveTo>
                  <a:pt x="0" y="0"/>
                </a:moveTo>
                <a:lnTo>
                  <a:pt x="5064771" y="0"/>
                </a:lnTo>
                <a:lnTo>
                  <a:pt x="5064771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21" name="Text 19"/>
          <p:cNvSpPr/>
          <p:nvPr/>
        </p:nvSpPr>
        <p:spPr>
          <a:xfrm>
            <a:off x="6487062" y="3565790"/>
            <a:ext cx="5134390" cy="2262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从被动数据分析升级为主动决策建议，提升响应速度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2445" y="4292437"/>
            <a:ext cx="5630424" cy="2558493"/>
          </a:xfrm>
          <a:custGeom>
            <a:avLst/>
            <a:gdLst/>
            <a:ahLst/>
            <a:cxnLst/>
            <a:rect l="l" t="t" r="r" b="b"/>
            <a:pathLst>
              <a:path w="5630424" h="2558493">
                <a:moveTo>
                  <a:pt x="139233" y="0"/>
                </a:moveTo>
                <a:lnTo>
                  <a:pt x="5491191" y="0"/>
                </a:lnTo>
                <a:cubicBezTo>
                  <a:pt x="5568087" y="0"/>
                  <a:pt x="5630424" y="62337"/>
                  <a:pt x="5630424" y="139233"/>
                </a:cubicBezTo>
                <a:lnTo>
                  <a:pt x="5630424" y="2419259"/>
                </a:lnTo>
                <a:cubicBezTo>
                  <a:pt x="5630424" y="2496156"/>
                  <a:pt x="5568087" y="2558493"/>
                  <a:pt x="5491191" y="2558493"/>
                </a:cubicBezTo>
                <a:lnTo>
                  <a:pt x="139233" y="2558493"/>
                </a:lnTo>
                <a:cubicBezTo>
                  <a:pt x="62337" y="2558493"/>
                  <a:pt x="0" y="2496156"/>
                  <a:pt x="0" y="2419259"/>
                </a:cubicBezTo>
                <a:lnTo>
                  <a:pt x="0" y="139233"/>
                </a:lnTo>
                <a:cubicBezTo>
                  <a:pt x="0" y="62388"/>
                  <a:pt x="62388" y="0"/>
                  <a:pt x="13923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272" y="4575263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139238" y="0"/>
                </a:moveTo>
                <a:lnTo>
                  <a:pt x="417713" y="0"/>
                </a:lnTo>
                <a:cubicBezTo>
                  <a:pt x="494560" y="0"/>
                  <a:pt x="556951" y="62390"/>
                  <a:pt x="556951" y="139238"/>
                </a:cubicBezTo>
                <a:lnTo>
                  <a:pt x="556951" y="417713"/>
                </a:lnTo>
                <a:cubicBezTo>
                  <a:pt x="556951" y="494560"/>
                  <a:pt x="494560" y="556951"/>
                  <a:pt x="417713" y="556951"/>
                </a:cubicBezTo>
                <a:lnTo>
                  <a:pt x="139238" y="556951"/>
                </a:lnTo>
                <a:cubicBezTo>
                  <a:pt x="62390" y="556951"/>
                  <a:pt x="0" y="494560"/>
                  <a:pt x="0" y="417713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4" name="Text 22"/>
          <p:cNvSpPr/>
          <p:nvPr/>
        </p:nvSpPr>
        <p:spPr>
          <a:xfrm>
            <a:off x="755133" y="4697096"/>
            <a:ext cx="443820" cy="313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5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66270" y="4575263"/>
            <a:ext cx="2880480" cy="365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2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从"系统割裂"到"语义统一"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66270" y="5010381"/>
            <a:ext cx="417713" cy="17405"/>
          </a:xfrm>
          <a:custGeom>
            <a:avLst/>
            <a:gdLst/>
            <a:ahLst/>
            <a:cxnLst/>
            <a:rect l="l" t="t" r="r" b="b"/>
            <a:pathLst>
              <a:path w="417713" h="17405">
                <a:moveTo>
                  <a:pt x="0" y="0"/>
                </a:moveTo>
                <a:lnTo>
                  <a:pt x="417713" y="0"/>
                </a:lnTo>
                <a:lnTo>
                  <a:pt x="417713" y="17405"/>
                </a:lnTo>
                <a:lnTo>
                  <a:pt x="0" y="17405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27" name="Text 25"/>
          <p:cNvSpPr/>
          <p:nvPr/>
        </p:nvSpPr>
        <p:spPr>
          <a:xfrm>
            <a:off x="635272" y="5306261"/>
            <a:ext cx="5151794" cy="287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商品、策略、动作、指标、责任人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272" y="5728325"/>
            <a:ext cx="5143092" cy="252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进入同一经营语义层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272" y="6161268"/>
            <a:ext cx="5064771" cy="8702"/>
          </a:xfrm>
          <a:custGeom>
            <a:avLst/>
            <a:gdLst/>
            <a:ahLst/>
            <a:cxnLst/>
            <a:rect l="l" t="t" r="r" b="b"/>
            <a:pathLst>
              <a:path w="5064771" h="8702">
                <a:moveTo>
                  <a:pt x="0" y="0"/>
                </a:moveTo>
                <a:lnTo>
                  <a:pt x="5064771" y="0"/>
                </a:lnTo>
                <a:lnTo>
                  <a:pt x="5064771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30" name="Text 28"/>
          <p:cNvSpPr/>
          <p:nvPr/>
        </p:nvSpPr>
        <p:spPr>
          <a:xfrm>
            <a:off x="635272" y="6339666"/>
            <a:ext cx="5134390" cy="2262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打破系统壁垒，建立统一的数据语言和业务逻辑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04236" y="4292437"/>
            <a:ext cx="5630424" cy="2558493"/>
          </a:xfrm>
          <a:custGeom>
            <a:avLst/>
            <a:gdLst/>
            <a:ahLst/>
            <a:cxnLst/>
            <a:rect l="l" t="t" r="r" b="b"/>
            <a:pathLst>
              <a:path w="5630424" h="2558493">
                <a:moveTo>
                  <a:pt x="139233" y="0"/>
                </a:moveTo>
                <a:lnTo>
                  <a:pt x="5491191" y="0"/>
                </a:lnTo>
                <a:cubicBezTo>
                  <a:pt x="5568087" y="0"/>
                  <a:pt x="5630424" y="62337"/>
                  <a:pt x="5630424" y="139233"/>
                </a:cubicBezTo>
                <a:lnTo>
                  <a:pt x="5630424" y="2419259"/>
                </a:lnTo>
                <a:cubicBezTo>
                  <a:pt x="5630424" y="2496156"/>
                  <a:pt x="5568087" y="2558493"/>
                  <a:pt x="5491191" y="2558493"/>
                </a:cubicBezTo>
                <a:lnTo>
                  <a:pt x="139233" y="2558493"/>
                </a:lnTo>
                <a:cubicBezTo>
                  <a:pt x="62337" y="2558493"/>
                  <a:pt x="0" y="2496156"/>
                  <a:pt x="0" y="2419259"/>
                </a:cubicBezTo>
                <a:lnTo>
                  <a:pt x="0" y="139233"/>
                </a:lnTo>
                <a:cubicBezTo>
                  <a:pt x="0" y="62388"/>
                  <a:pt x="62388" y="0"/>
                  <a:pt x="13923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87062" y="4575263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139238" y="0"/>
                </a:moveTo>
                <a:lnTo>
                  <a:pt x="417713" y="0"/>
                </a:lnTo>
                <a:cubicBezTo>
                  <a:pt x="494560" y="0"/>
                  <a:pt x="556951" y="62390"/>
                  <a:pt x="556951" y="139238"/>
                </a:cubicBezTo>
                <a:lnTo>
                  <a:pt x="556951" y="417713"/>
                </a:lnTo>
                <a:cubicBezTo>
                  <a:pt x="556951" y="494560"/>
                  <a:pt x="494560" y="556951"/>
                  <a:pt x="417713" y="556951"/>
                </a:cubicBezTo>
                <a:lnTo>
                  <a:pt x="139238" y="556951"/>
                </a:lnTo>
                <a:cubicBezTo>
                  <a:pt x="62390" y="556951"/>
                  <a:pt x="0" y="494560"/>
                  <a:pt x="0" y="417713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33" name="Text 31"/>
          <p:cNvSpPr/>
          <p:nvPr/>
        </p:nvSpPr>
        <p:spPr>
          <a:xfrm>
            <a:off x="6607195" y="4697096"/>
            <a:ext cx="443820" cy="313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5" b="1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18060" y="4575263"/>
            <a:ext cx="2880480" cy="3654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92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从"每次重来"到"持续进化"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18060" y="5010381"/>
            <a:ext cx="417713" cy="17405"/>
          </a:xfrm>
          <a:custGeom>
            <a:avLst/>
            <a:gdLst/>
            <a:ahLst/>
            <a:cxnLst/>
            <a:rect l="l" t="t" r="r" b="b"/>
            <a:pathLst>
              <a:path w="417713" h="17405">
                <a:moveTo>
                  <a:pt x="0" y="0"/>
                </a:moveTo>
                <a:lnTo>
                  <a:pt x="417713" y="0"/>
                </a:lnTo>
                <a:lnTo>
                  <a:pt x="417713" y="17405"/>
                </a:lnTo>
                <a:lnTo>
                  <a:pt x="0" y="17405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36" name="Text 34"/>
          <p:cNvSpPr/>
          <p:nvPr/>
        </p:nvSpPr>
        <p:spPr>
          <a:xfrm>
            <a:off x="6487062" y="5306261"/>
            <a:ext cx="5151794" cy="287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每次执行和复盘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87062" y="5728325"/>
            <a:ext cx="5143092" cy="252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5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都会变成下一轮更好的依据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87062" y="6161268"/>
            <a:ext cx="5064771" cy="8702"/>
          </a:xfrm>
          <a:custGeom>
            <a:avLst/>
            <a:gdLst/>
            <a:ahLst/>
            <a:cxnLst/>
            <a:rect l="l" t="t" r="r" b="b"/>
            <a:pathLst>
              <a:path w="5064771" h="8702">
                <a:moveTo>
                  <a:pt x="0" y="0"/>
                </a:moveTo>
                <a:lnTo>
                  <a:pt x="5064771" y="0"/>
                </a:lnTo>
                <a:lnTo>
                  <a:pt x="5064771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</p:spPr>
      </p:sp>
      <p:sp>
        <p:nvSpPr>
          <p:cNvPr id="39" name="Text 37"/>
          <p:cNvSpPr/>
          <p:nvPr/>
        </p:nvSpPr>
        <p:spPr>
          <a:xfrm>
            <a:off x="6487062" y="6339666"/>
            <a:ext cx="5134390" cy="2262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5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建立正向反馈循环，实现组织能力的持续提升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quarespace-cdn.com/2f3bdc77718aac778dc68e4c8a9fa9e51d13c8de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28901" b="2890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FAFAFA">
                  <a:alpha val="8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218807" y="894531"/>
            <a:ext cx="1752600" cy="457200"/>
          </a:xfrm>
          <a:custGeom>
            <a:avLst/>
            <a:gdLst/>
            <a:ahLst/>
            <a:cxnLst/>
            <a:rect l="l" t="t" r="r" b="b"/>
            <a:pathLst>
              <a:path w="1752600" h="457200">
                <a:moveTo>
                  <a:pt x="0" y="0"/>
                </a:moveTo>
                <a:lnTo>
                  <a:pt x="1752600" y="0"/>
                </a:lnTo>
                <a:lnTo>
                  <a:pt x="1752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</p:spPr>
      </p:sp>
      <p:sp>
        <p:nvSpPr>
          <p:cNvPr id="5" name="Text 2"/>
          <p:cNvSpPr/>
          <p:nvPr/>
        </p:nvSpPr>
        <p:spPr>
          <a:xfrm>
            <a:off x="5180707" y="894531"/>
            <a:ext cx="1828800" cy="457200"/>
          </a:xfrm>
          <a:prstGeom prst="rect">
            <a:avLst/>
          </a:prstGeom>
          <a:noFill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240" dirty="0">
                <a:solidFill>
                  <a:srgbClr val="FAFA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08001" y="2037531"/>
            <a:ext cx="9172575" cy="2571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9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我们不是在做一个普通 AI 工具，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39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而是在为企业建立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3900" b="1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"统一经营语言 + 决策中枢 + 协同工作台"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390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的经营操作系统。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993853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</p:spPr>
      </p:sp>
      <p:sp>
        <p:nvSpPr>
          <p:cNvPr id="8" name="Text 5"/>
          <p:cNvSpPr/>
          <p:nvPr/>
        </p:nvSpPr>
        <p:spPr>
          <a:xfrm>
            <a:off x="2195513" y="5403428"/>
            <a:ext cx="780097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150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先定义清楚，再决策清楚，最后执行清楚。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2061</Words>
  <Application>WPS 表格</Application>
  <PresentationFormat>On-screen Show (16:9)</PresentationFormat>
  <Paragraphs>392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MiSans</vt:lpstr>
      <vt:lpstr>MiSans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汉仪中等线KW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本体建设 → 本体大脑 → 工作台 MVP</dc:title>
  <dc:creator>Kimi</dc:creator>
  <dc:subject>本体建设 → 本体大脑 → 工作台 MVP</dc:subject>
  <cp:lastModifiedBy>WPS_1723434810</cp:lastModifiedBy>
  <cp:revision>6</cp:revision>
  <dcterms:created xsi:type="dcterms:W3CDTF">2026-03-26T09:35:35Z</dcterms:created>
  <dcterms:modified xsi:type="dcterms:W3CDTF">2026-03-26T09:35:35Z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{"Label":"本体建设 → 本体大脑 → 工作台 MVP","ContentProducer":"001191110108MACG2KBH8F10000","ProduceID":"19d28183-9f12-8273-8000-0000d102b178","ReservedCode1":"","ContentPropagator":"001191110108MACG2KBH8F20000","PropagateID":"19d28183-9f12-8273-8000-0000d102b178","ReservedCode2":""}</vt:lpwstr>
  </property>
  <property fmtid="{D5CDD505-2E9C-101B-9397-08002B2CF9AE}" pid="3" name="KSOProductBuildVer">
    <vt:lpwstr>2052-12.1.24031.24031</vt:lpwstr>
  </property>
  <property fmtid="{D5CDD505-2E9C-101B-9397-08002B2CF9AE}" pid="4" name="ICV">
    <vt:lpwstr>74E0186B10F2C8C4E7FDC46918865820_43</vt:lpwstr>
  </property>
</Properties>
</file>